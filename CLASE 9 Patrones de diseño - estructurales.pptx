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7" r:id="rId2"/>
    <p:sldId id="276" r:id="rId3"/>
    <p:sldId id="353" r:id="rId4"/>
    <p:sldId id="403" r:id="rId5"/>
    <p:sldId id="336" r:id="rId6"/>
    <p:sldId id="410" r:id="rId7"/>
    <p:sldId id="412" r:id="rId8"/>
    <p:sldId id="414" r:id="rId9"/>
    <p:sldId id="413" r:id="rId10"/>
    <p:sldId id="415" r:id="rId11"/>
    <p:sldId id="411" r:id="rId12"/>
    <p:sldId id="417" r:id="rId13"/>
    <p:sldId id="418" r:id="rId14"/>
    <p:sldId id="420" r:id="rId15"/>
    <p:sldId id="419" r:id="rId16"/>
    <p:sldId id="374" r:id="rId17"/>
    <p:sldId id="404" r:id="rId18"/>
    <p:sldId id="408" r:id="rId19"/>
    <p:sldId id="409" r:id="rId20"/>
    <p:sldId id="406" r:id="rId21"/>
    <p:sldId id="407" r:id="rId22"/>
    <p:sldId id="372" r:id="rId23"/>
    <p:sldId id="428" r:id="rId24"/>
    <p:sldId id="429" r:id="rId25"/>
    <p:sldId id="430" r:id="rId26"/>
    <p:sldId id="431" r:id="rId27"/>
    <p:sldId id="421" r:id="rId28"/>
    <p:sldId id="362" r:id="rId29"/>
    <p:sldId id="366" r:id="rId30"/>
    <p:sldId id="367" r:id="rId31"/>
    <p:sldId id="376" r:id="rId32"/>
    <p:sldId id="377" r:id="rId33"/>
    <p:sldId id="378" r:id="rId34"/>
    <p:sldId id="379" r:id="rId35"/>
    <p:sldId id="271" r:id="rId36"/>
    <p:sldId id="279" r:id="rId3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6A755"/>
    <a:srgbClr val="5B9BD5"/>
    <a:srgbClr val="548235"/>
    <a:srgbClr val="0D406D"/>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783" autoAdjust="0"/>
  </p:normalViewPr>
  <p:slideViewPr>
    <p:cSldViewPr snapToGrid="0">
      <p:cViewPr varScale="1">
        <p:scale>
          <a:sx n="68" d="100"/>
          <a:sy n="68" d="100"/>
        </p:scale>
        <p:origin x="1262" y="62"/>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1602BA-3FA2-4FB0-AB54-2A7CE45A3F23}" type="datetimeFigureOut">
              <a:rPr lang="es-PE" smtClean="0"/>
              <a:t>25/09/2024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AB033-42B4-4618-BF87-09F65E9AB07B}" type="slidenum">
              <a:rPr lang="es-PE" smtClean="0"/>
              <a:t>‹Nº›</a:t>
            </a:fld>
            <a:endParaRPr lang="es-PE"/>
          </a:p>
        </p:txBody>
      </p:sp>
    </p:spTree>
    <p:extLst>
      <p:ext uri="{BB962C8B-B14F-4D97-AF65-F5344CB8AC3E}">
        <p14:creationId xmlns:p14="http://schemas.microsoft.com/office/powerpoint/2010/main" val="2419943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refactoring.guru/es/design-patterns/mediator"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refactoring.guru/es/smells/duplicate-code"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refactoring.guru/es/design-patterns/decorator"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4963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4</a:t>
            </a:fld>
            <a:endParaRPr lang="es-PE"/>
          </a:p>
        </p:txBody>
      </p:sp>
    </p:spTree>
    <p:extLst>
      <p:ext uri="{BB962C8B-B14F-4D97-AF65-F5344CB8AC3E}">
        <p14:creationId xmlns:p14="http://schemas.microsoft.com/office/powerpoint/2010/main" val="1728583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5</a:t>
            </a:fld>
            <a:endParaRPr lang="es-PE"/>
          </a:p>
        </p:txBody>
      </p:sp>
    </p:spTree>
    <p:extLst>
      <p:ext uri="{BB962C8B-B14F-4D97-AF65-F5344CB8AC3E}">
        <p14:creationId xmlns:p14="http://schemas.microsoft.com/office/powerpoint/2010/main" val="4098721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6</a:t>
            </a:fld>
            <a:endParaRPr lang="es-PE"/>
          </a:p>
        </p:txBody>
      </p:sp>
    </p:spTree>
    <p:extLst>
      <p:ext uri="{BB962C8B-B14F-4D97-AF65-F5344CB8AC3E}">
        <p14:creationId xmlns:p14="http://schemas.microsoft.com/office/powerpoint/2010/main" val="3454867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b="0" i="0" kern="1200" dirty="0" smtClean="0">
                <a:solidFill>
                  <a:schemeClr val="tx1"/>
                </a:solidFill>
                <a:effectLst/>
                <a:latin typeface="+mn-lt"/>
                <a:ea typeface="+mn-ea"/>
                <a:cs typeface="+mn-cs"/>
              </a:rPr>
              <a:t>¿Cómo funcionaría este método? Para un producto, sencillamente devuelve el precio del producto. Para una caja, recorre cada artículo que contiene la caja, pregunta su precio y devuelve un total por la caja. Si uno de esos artículos fuera una caja más pequeña, esa caja también comenzaría a repasar su contenido y así sucesivamente, hasta que se calcule el precio de todos los componentes internos. Una caja podría incluso añadir costos adicionales al precio final, como costos de empaquetado.</a:t>
            </a:r>
          </a:p>
          <a:p>
            <a:endParaRPr lang="es-PE" dirty="0" smtClean="0"/>
          </a:p>
          <a:p>
            <a:r>
              <a:rPr lang="es-PE" sz="1200" b="0" i="0" kern="1200" dirty="0" smtClean="0">
                <a:solidFill>
                  <a:schemeClr val="tx1"/>
                </a:solidFill>
                <a:effectLst/>
                <a:latin typeface="+mn-lt"/>
                <a:ea typeface="+mn-ea"/>
                <a:cs typeface="+mn-cs"/>
              </a:rPr>
              <a:t>La gran ventaja de esta solución es que no tienes que preocuparte por las clases concretas de los objetos que componen el árbol. No tienes que saber si un objeto es un producto simple o una sofisticada caja. Puedes tratarlos a todos por igual a través de la interfaz común. Cuando invocas un método, los propios objetos pasan la solicitud a lo largo del árbol.</a:t>
            </a:r>
            <a:r>
              <a:rPr lang="es-PE" dirty="0" smtClean="0"/>
              <a:t/>
            </a:r>
            <a:br>
              <a:rPr lang="es-PE" dirty="0" smtClean="0"/>
            </a:br>
            <a:endParaRPr lang="es-PE" b="1" i="0"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7</a:t>
            </a:fld>
            <a:endParaRPr lang="es-PE"/>
          </a:p>
        </p:txBody>
      </p:sp>
    </p:spTree>
    <p:extLst>
      <p:ext uri="{BB962C8B-B14F-4D97-AF65-F5344CB8AC3E}">
        <p14:creationId xmlns:p14="http://schemas.microsoft.com/office/powerpoint/2010/main" val="18256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8</a:t>
            </a:fld>
            <a:endParaRPr lang="es-PE"/>
          </a:p>
        </p:txBody>
      </p:sp>
    </p:spTree>
    <p:extLst>
      <p:ext uri="{BB962C8B-B14F-4D97-AF65-F5344CB8AC3E}">
        <p14:creationId xmlns:p14="http://schemas.microsoft.com/office/powerpoint/2010/main" val="733775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9</a:t>
            </a:fld>
            <a:endParaRPr lang="es-PE"/>
          </a:p>
        </p:txBody>
      </p:sp>
    </p:spTree>
    <p:extLst>
      <p:ext uri="{BB962C8B-B14F-4D97-AF65-F5344CB8AC3E}">
        <p14:creationId xmlns:p14="http://schemas.microsoft.com/office/powerpoint/2010/main" val="22594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b="0" i="0" kern="1200" dirty="0" smtClean="0">
                <a:solidFill>
                  <a:schemeClr val="tx1"/>
                </a:solidFill>
                <a:effectLst/>
                <a:latin typeface="+mn-lt"/>
                <a:ea typeface="+mn-ea"/>
                <a:cs typeface="+mn-cs"/>
              </a:rPr>
              <a:t>El patrón </a:t>
            </a:r>
            <a:r>
              <a:rPr lang="es-PE" sz="1200" b="0" i="0" kern="1200" dirty="0" err="1" smtClean="0">
                <a:solidFill>
                  <a:schemeClr val="tx1"/>
                </a:solidFill>
                <a:effectLst/>
                <a:latin typeface="+mn-lt"/>
                <a:ea typeface="+mn-ea"/>
                <a:cs typeface="+mn-cs"/>
              </a:rPr>
              <a:t>Composite</a:t>
            </a:r>
            <a:r>
              <a:rPr lang="es-PE" sz="1200" b="0" i="0" kern="1200" dirty="0" smtClean="0">
                <a:solidFill>
                  <a:schemeClr val="tx1"/>
                </a:solidFill>
                <a:effectLst/>
                <a:latin typeface="+mn-lt"/>
                <a:ea typeface="+mn-ea"/>
                <a:cs typeface="+mn-cs"/>
              </a:rPr>
              <a:t> te proporciona dos tipos de elementos básicos que comparten una interfaz común: hojas simples y contenedores complejos. Un contenedor puede estar compuesto por hojas y por otros contenedores. Esto te permite construir una estructura de objetos recursivos anidados parecida a un árbol.</a:t>
            </a:r>
          </a:p>
          <a:p>
            <a:endParaRPr lang="es-PE" sz="1200" b="0" i="0" kern="1200" dirty="0" smtClean="0">
              <a:solidFill>
                <a:schemeClr val="tx1"/>
              </a:solidFill>
              <a:effectLst/>
              <a:latin typeface="+mn-lt"/>
              <a:ea typeface="+mn-ea"/>
              <a:cs typeface="+mn-cs"/>
            </a:endParaRPr>
          </a:p>
          <a:p>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10</a:t>
            </a:fld>
            <a:endParaRPr lang="es-PE"/>
          </a:p>
        </p:txBody>
      </p:sp>
    </p:spTree>
    <p:extLst>
      <p:ext uri="{BB962C8B-B14F-4D97-AF65-F5344CB8AC3E}">
        <p14:creationId xmlns:p14="http://schemas.microsoft.com/office/powerpoint/2010/main" val="1910710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11</a:t>
            </a:fld>
            <a:endParaRPr lang="es-PE"/>
          </a:p>
        </p:txBody>
      </p:sp>
    </p:spTree>
    <p:extLst>
      <p:ext uri="{BB962C8B-B14F-4D97-AF65-F5344CB8AC3E}">
        <p14:creationId xmlns:p14="http://schemas.microsoft.com/office/powerpoint/2010/main" val="1602371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12</a:t>
            </a:fld>
            <a:endParaRPr lang="es-PE"/>
          </a:p>
        </p:txBody>
      </p:sp>
    </p:spTree>
    <p:extLst>
      <p:ext uri="{BB962C8B-B14F-4D97-AF65-F5344CB8AC3E}">
        <p14:creationId xmlns:p14="http://schemas.microsoft.com/office/powerpoint/2010/main" val="3029000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13</a:t>
            </a:fld>
            <a:endParaRPr lang="es-PE"/>
          </a:p>
        </p:txBody>
      </p:sp>
    </p:spTree>
    <p:extLst>
      <p:ext uri="{BB962C8B-B14F-4D97-AF65-F5344CB8AC3E}">
        <p14:creationId xmlns:p14="http://schemas.microsoft.com/office/powerpoint/2010/main" val="2990767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r>
              <a:rPr lang="es-PE" sz="1200" b="0" i="0" kern="1200" dirty="0" smtClean="0">
                <a:solidFill>
                  <a:schemeClr val="tx1"/>
                </a:solidFill>
                <a:effectLst/>
                <a:latin typeface="+mn-lt"/>
                <a:ea typeface="+mn-ea"/>
                <a:cs typeface="+mn-cs"/>
              </a:rPr>
              <a:t>En lugar de hacer que tu código trabaje con decenas de las clases del </a:t>
            </a:r>
            <a:r>
              <a:rPr lang="es-PE" sz="1200" b="0" i="0" kern="1200" dirty="0" err="1" smtClean="0">
                <a:solidFill>
                  <a:schemeClr val="tx1"/>
                </a:solidFill>
                <a:effectLst/>
                <a:latin typeface="+mn-lt"/>
                <a:ea typeface="+mn-ea"/>
                <a:cs typeface="+mn-cs"/>
              </a:rPr>
              <a:t>framework</a:t>
            </a:r>
            <a:r>
              <a:rPr lang="es-PE" sz="1200" b="0" i="0" kern="1200" dirty="0" smtClean="0">
                <a:solidFill>
                  <a:schemeClr val="tx1"/>
                </a:solidFill>
                <a:effectLst/>
                <a:latin typeface="+mn-lt"/>
                <a:ea typeface="+mn-ea"/>
                <a:cs typeface="+mn-cs"/>
              </a:rPr>
              <a:t> directamente, creas una clase fachada que encapsula esa funcionalidad y la esconde del resto del código. Esta estructura también te ayuda a minimizar el esfuerzo de actualizar a futuras versiones del </a:t>
            </a:r>
            <a:r>
              <a:rPr lang="es-PE" sz="1200" b="0" i="0" kern="1200" dirty="0" err="1" smtClean="0">
                <a:solidFill>
                  <a:schemeClr val="tx1"/>
                </a:solidFill>
                <a:effectLst/>
                <a:latin typeface="+mn-lt"/>
                <a:ea typeface="+mn-ea"/>
                <a:cs typeface="+mn-cs"/>
              </a:rPr>
              <a:t>framework</a:t>
            </a:r>
            <a:r>
              <a:rPr lang="es-PE" sz="1200" b="0" i="0" kern="1200" dirty="0" smtClean="0">
                <a:solidFill>
                  <a:schemeClr val="tx1"/>
                </a:solidFill>
                <a:effectLst/>
                <a:latin typeface="+mn-lt"/>
                <a:ea typeface="+mn-ea"/>
                <a:cs typeface="+mn-cs"/>
              </a:rPr>
              <a:t> o de sustituirlo por otro. Lo único que tendrías que cambiar en la aplicación es la implementación de los métodos de la fachada.</a:t>
            </a: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14</a:t>
            </a:fld>
            <a:endParaRPr lang="es-PE"/>
          </a:p>
        </p:txBody>
      </p:sp>
    </p:spTree>
    <p:extLst>
      <p:ext uri="{BB962C8B-B14F-4D97-AF65-F5344CB8AC3E}">
        <p14:creationId xmlns:p14="http://schemas.microsoft.com/office/powerpoint/2010/main" val="2882235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b="0" i="0" kern="1200" dirty="0" smtClean="0">
                <a:solidFill>
                  <a:schemeClr val="tx1"/>
                </a:solidFill>
                <a:effectLst/>
                <a:latin typeface="+mn-lt"/>
                <a:ea typeface="+mn-ea"/>
                <a:cs typeface="+mn-cs"/>
              </a:rPr>
              <a:t>A menudo los subsistemas se vuelven más complejos con el tiempo. Incluso la aplicación de patrones de diseño suele conducir a la creación de un mayor número de clases. Un subsistema puede hacerse más flexible y más fácil de reutilizar en varios contextos, pero la cantidad de código de configuración que exige de un cliente, crece aún más. El patrón </a:t>
            </a:r>
            <a:r>
              <a:rPr lang="es-PE" sz="1200" b="0" i="0" kern="1200" dirty="0" err="1" smtClean="0">
                <a:solidFill>
                  <a:schemeClr val="tx1"/>
                </a:solidFill>
                <a:effectLst/>
                <a:latin typeface="+mn-lt"/>
                <a:ea typeface="+mn-ea"/>
                <a:cs typeface="+mn-cs"/>
              </a:rPr>
              <a:t>Facade</a:t>
            </a:r>
            <a:r>
              <a:rPr lang="es-PE" sz="1200" b="0" i="0" kern="1200" dirty="0" smtClean="0">
                <a:solidFill>
                  <a:schemeClr val="tx1"/>
                </a:solidFill>
                <a:effectLst/>
                <a:latin typeface="+mn-lt"/>
                <a:ea typeface="+mn-ea"/>
                <a:cs typeface="+mn-cs"/>
              </a:rPr>
              <a:t> intenta solucionar este problema proporcionando un atajo a las funciones más utilizadas del subsistema que mejor encajan con los requisitos del cliente.</a:t>
            </a:r>
          </a:p>
          <a:p>
            <a:endParaRPr lang="es-PE" sz="1200" b="0" i="0" kern="1200" dirty="0" smtClean="0">
              <a:solidFill>
                <a:schemeClr val="tx1"/>
              </a:solidFill>
              <a:effectLst/>
              <a:latin typeface="+mn-lt"/>
              <a:ea typeface="+mn-ea"/>
              <a:cs typeface="+mn-cs"/>
            </a:endParaRPr>
          </a:p>
          <a:p>
            <a:r>
              <a:rPr lang="es-PE" sz="1200" b="0" i="0" kern="1200" dirty="0" smtClean="0">
                <a:solidFill>
                  <a:schemeClr val="tx1"/>
                </a:solidFill>
                <a:effectLst/>
                <a:latin typeface="+mn-lt"/>
                <a:ea typeface="+mn-ea"/>
                <a:cs typeface="+mn-cs"/>
              </a:rPr>
              <a:t>Por ejemplo, regresemos a nuestro </a:t>
            </a:r>
            <a:r>
              <a:rPr lang="es-PE" sz="1200" b="0" i="0" kern="1200" dirty="0" err="1" smtClean="0">
                <a:solidFill>
                  <a:schemeClr val="tx1"/>
                </a:solidFill>
                <a:effectLst/>
                <a:latin typeface="+mn-lt"/>
                <a:ea typeface="+mn-ea"/>
                <a:cs typeface="+mn-cs"/>
              </a:rPr>
              <a:t>framework</a:t>
            </a:r>
            <a:r>
              <a:rPr lang="es-PE" sz="1200" b="0" i="0" kern="1200" dirty="0" smtClean="0">
                <a:solidFill>
                  <a:schemeClr val="tx1"/>
                </a:solidFill>
                <a:effectLst/>
                <a:latin typeface="+mn-lt"/>
                <a:ea typeface="+mn-ea"/>
                <a:cs typeface="+mn-cs"/>
              </a:rPr>
              <a:t> de conversión de vídeo. Puede dividirse en dos capas: la relacionada con el vídeo y la relacionada con el audio. Puedes crear una fachada para cada capa y hacer que las clases de cada una de ellas se comuniquen entre sí a través de esas fachadas. Este procedimiento es bastante similar al patrón </a:t>
            </a:r>
            <a:r>
              <a:rPr lang="es-PE" sz="1200" b="1" i="0" u="none" strike="noStrike" kern="1200" dirty="0" smtClean="0">
                <a:solidFill>
                  <a:schemeClr val="tx1"/>
                </a:solidFill>
                <a:effectLst/>
                <a:latin typeface="+mn-lt"/>
                <a:ea typeface="+mn-ea"/>
                <a:cs typeface="+mn-cs"/>
                <a:hlinkClick r:id="rId3"/>
              </a:rPr>
              <a:t>Mediator</a:t>
            </a:r>
            <a:r>
              <a:rPr lang="es-PE" sz="1200" b="0" i="0" kern="1200" dirty="0" smtClean="0">
                <a:solidFill>
                  <a:schemeClr val="tx1"/>
                </a:solidFill>
                <a:effectLst/>
                <a:latin typeface="+mn-lt"/>
                <a:ea typeface="+mn-ea"/>
                <a:cs typeface="+mn-cs"/>
              </a:rPr>
              <a:t>.</a:t>
            </a: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15</a:t>
            </a:fld>
            <a:endParaRPr lang="es-PE"/>
          </a:p>
        </p:txBody>
      </p:sp>
    </p:spTree>
    <p:extLst>
      <p:ext uri="{BB962C8B-B14F-4D97-AF65-F5344CB8AC3E}">
        <p14:creationId xmlns:p14="http://schemas.microsoft.com/office/powerpoint/2010/main" val="1083652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b="0" i="0" kern="1200" dirty="0" smtClean="0">
                <a:solidFill>
                  <a:schemeClr val="tx1"/>
                </a:solidFill>
                <a:effectLst/>
                <a:latin typeface="+mn-lt"/>
                <a:ea typeface="+mn-ea"/>
                <a:cs typeface="+mn-cs"/>
              </a:rPr>
              <a:t>Imagina que estás creando una aplicación de monitoreo del mercado de valores. La aplicación descarga la información de bolsa desde varias fuentes en formato XML para presentarla al usuario con bonitos gráficos y diagramas.</a:t>
            </a:r>
          </a:p>
          <a:p>
            <a:r>
              <a:rPr lang="es-PE" sz="1200" b="0" i="0" kern="1200" dirty="0" smtClean="0">
                <a:solidFill>
                  <a:schemeClr val="tx1"/>
                </a:solidFill>
                <a:effectLst/>
                <a:latin typeface="+mn-lt"/>
                <a:ea typeface="+mn-ea"/>
                <a:cs typeface="+mn-cs"/>
              </a:rPr>
              <a:t>En cierto momento, decides mejorar la aplicación integrando una inteligente biblioteca de análisis de una tercera persona. Pero hay una trampa: la biblioteca de análisis solo funciona con datos en formato JSON.</a:t>
            </a:r>
          </a:p>
          <a:p>
            <a:pPr marL="0" indent="0">
              <a:buFontTx/>
              <a:buNone/>
            </a:pPr>
            <a:endParaRPr lang="es-PE" dirty="0" smtClean="0"/>
          </a:p>
          <a:p>
            <a:pPr marL="0" indent="0">
              <a:buFontTx/>
              <a:buNone/>
            </a:pPr>
            <a:r>
              <a:rPr lang="es-PE" sz="1200" b="0" i="0" kern="1200" dirty="0" smtClean="0">
                <a:solidFill>
                  <a:schemeClr val="tx1"/>
                </a:solidFill>
                <a:effectLst/>
                <a:latin typeface="+mn-lt"/>
                <a:ea typeface="+mn-ea"/>
                <a:cs typeface="+mn-cs"/>
              </a:rPr>
              <a:t>Podrías cambiar la biblioteca para que funcione con XML. Sin embargo, esto podría descomponer parte del código existente que depende de la biblioteca. Y, lo que es peor, podrías no tener siquiera acceso al código fuente de la biblioteca, lo que hace imposible esta solución.</a:t>
            </a: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16</a:t>
            </a:fld>
            <a:endParaRPr lang="es-PE"/>
          </a:p>
        </p:txBody>
      </p:sp>
    </p:spTree>
    <p:extLst>
      <p:ext uri="{BB962C8B-B14F-4D97-AF65-F5344CB8AC3E}">
        <p14:creationId xmlns:p14="http://schemas.microsoft.com/office/powerpoint/2010/main" val="17759212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b="1" i="0"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17</a:t>
            </a:fld>
            <a:endParaRPr lang="es-PE"/>
          </a:p>
        </p:txBody>
      </p:sp>
    </p:spTree>
    <p:extLst>
      <p:ext uri="{BB962C8B-B14F-4D97-AF65-F5344CB8AC3E}">
        <p14:creationId xmlns:p14="http://schemas.microsoft.com/office/powerpoint/2010/main" val="3866323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b="0" i="0" kern="1200" dirty="0" smtClean="0">
                <a:solidFill>
                  <a:schemeClr val="tx1"/>
                </a:solidFill>
                <a:effectLst/>
                <a:latin typeface="+mn-lt"/>
                <a:ea typeface="+mn-ea"/>
                <a:cs typeface="+mn-cs"/>
              </a:rPr>
              <a:t>Puedes crear un </a:t>
            </a:r>
            <a:r>
              <a:rPr lang="es-PE" sz="1200" b="0" i="1" kern="1200" dirty="0" smtClean="0">
                <a:solidFill>
                  <a:schemeClr val="tx1"/>
                </a:solidFill>
                <a:effectLst/>
                <a:latin typeface="+mn-lt"/>
                <a:ea typeface="+mn-ea"/>
                <a:cs typeface="+mn-cs"/>
              </a:rPr>
              <a:t>adaptador</a:t>
            </a:r>
            <a:r>
              <a:rPr lang="es-PE" sz="1200" b="0" i="0" kern="1200" dirty="0" smtClean="0">
                <a:solidFill>
                  <a:schemeClr val="tx1"/>
                </a:solidFill>
                <a:effectLst/>
                <a:latin typeface="+mn-lt"/>
                <a:ea typeface="+mn-ea"/>
                <a:cs typeface="+mn-cs"/>
              </a:rPr>
              <a:t>. Se trata de un objeto especial que convierte la interfaz de un objeto, de forma que otro objeto pueda comprenderla.</a:t>
            </a:r>
          </a:p>
          <a:p>
            <a:r>
              <a:rPr lang="es-PE" sz="1200" b="0" i="0" kern="1200" dirty="0" smtClean="0">
                <a:solidFill>
                  <a:schemeClr val="tx1"/>
                </a:solidFill>
                <a:effectLst/>
                <a:latin typeface="+mn-lt"/>
                <a:ea typeface="+mn-ea"/>
                <a:cs typeface="+mn-cs"/>
              </a:rPr>
              <a:t>Un adaptador envuelve uno de los objetos para esconder la complejidad de la conversión que tiene lugar tras bambalinas. El objeto envuelto ni siquiera es consciente de la existencia del adaptador. Por ejemplo, puedes envolver un objeto que opera con metros y kilómetros con un adaptador que convierte todos los datos al sistema anglosajón, es decir, pies y millas.</a:t>
            </a:r>
          </a:p>
          <a:p>
            <a:endParaRPr lang="es-PE" sz="1200" b="0" i="0" kern="1200" dirty="0" smtClean="0">
              <a:solidFill>
                <a:schemeClr val="tx1"/>
              </a:solidFill>
              <a:effectLst/>
              <a:latin typeface="+mn-lt"/>
              <a:ea typeface="+mn-ea"/>
              <a:cs typeface="+mn-cs"/>
            </a:endParaRPr>
          </a:p>
          <a:p>
            <a:r>
              <a:rPr lang="es-PE" sz="1200" b="0" i="0" kern="1200" dirty="0" smtClean="0">
                <a:solidFill>
                  <a:schemeClr val="tx1"/>
                </a:solidFill>
                <a:effectLst/>
                <a:latin typeface="+mn-lt"/>
                <a:ea typeface="+mn-ea"/>
                <a:cs typeface="+mn-cs"/>
              </a:rPr>
              <a:t>Los adaptadores no solo convierten datos a varios formatos, sino que también ayudan a objetos con distintas interfaces a colaborar. Funciona así:</a:t>
            </a:r>
          </a:p>
          <a:p>
            <a:pPr marL="228600" indent="-228600">
              <a:buFont typeface="+mj-lt"/>
              <a:buAutoNum type="arabicPeriod"/>
            </a:pPr>
            <a:r>
              <a:rPr lang="es-PE" sz="1200" b="0" i="0" kern="1200" dirty="0" smtClean="0">
                <a:solidFill>
                  <a:schemeClr val="tx1"/>
                </a:solidFill>
                <a:effectLst/>
                <a:latin typeface="+mn-lt"/>
                <a:ea typeface="+mn-ea"/>
                <a:cs typeface="+mn-cs"/>
              </a:rPr>
              <a:t>El adaptador obtiene una interfaz compatible con uno de los objetos existentes.</a:t>
            </a:r>
          </a:p>
          <a:p>
            <a:pPr marL="228600" indent="-228600">
              <a:buFont typeface="+mj-lt"/>
              <a:buAutoNum type="arabicPeriod"/>
            </a:pPr>
            <a:r>
              <a:rPr lang="es-PE" sz="1200" b="0" i="0" kern="1200" dirty="0" smtClean="0">
                <a:solidFill>
                  <a:schemeClr val="tx1"/>
                </a:solidFill>
                <a:effectLst/>
                <a:latin typeface="+mn-lt"/>
                <a:ea typeface="+mn-ea"/>
                <a:cs typeface="+mn-cs"/>
              </a:rPr>
              <a:t>Utilizando esta interfaz, el objeto existente puede invocar con seguridad los métodos del adaptador.</a:t>
            </a:r>
          </a:p>
          <a:p>
            <a:pPr marL="228600" indent="-228600">
              <a:buFont typeface="+mj-lt"/>
              <a:buAutoNum type="arabicPeriod"/>
            </a:pPr>
            <a:r>
              <a:rPr lang="es-PE" sz="1200" b="0" i="0" kern="1200" dirty="0" smtClean="0">
                <a:solidFill>
                  <a:schemeClr val="tx1"/>
                </a:solidFill>
                <a:effectLst/>
                <a:latin typeface="+mn-lt"/>
                <a:ea typeface="+mn-ea"/>
                <a:cs typeface="+mn-cs"/>
              </a:rPr>
              <a:t>Al recibir una llamada, el adaptador pasa la solicitud al segundo objeto, pero en un formato y orden que ese segundo objeto espera.</a:t>
            </a:r>
          </a:p>
          <a:p>
            <a:endParaRPr lang="es-PE" sz="1200" b="0" i="0" kern="1200" dirty="0" smtClean="0">
              <a:solidFill>
                <a:schemeClr val="tx1"/>
              </a:solidFill>
              <a:effectLst/>
              <a:latin typeface="+mn-lt"/>
              <a:ea typeface="+mn-ea"/>
              <a:cs typeface="+mn-cs"/>
            </a:endParaRPr>
          </a:p>
          <a:p>
            <a:r>
              <a:rPr lang="es-PE" sz="1200" b="0" i="0" kern="1200" dirty="0" smtClean="0">
                <a:solidFill>
                  <a:schemeClr val="tx1"/>
                </a:solidFill>
                <a:effectLst/>
                <a:latin typeface="+mn-lt"/>
                <a:ea typeface="+mn-ea"/>
                <a:cs typeface="+mn-cs"/>
              </a:rPr>
              <a:t>En ocasiones se puede incluso crear un adaptador de dos direcciones que pueda convertir las llamadas en ambos sentidos.</a:t>
            </a:r>
          </a:p>
          <a:p>
            <a:endParaRPr lang="es-PE" sz="1200" b="0" i="0" kern="1200" dirty="0" smtClean="0">
              <a:solidFill>
                <a:schemeClr val="tx1"/>
              </a:solidFill>
              <a:effectLst/>
              <a:latin typeface="+mn-lt"/>
              <a:ea typeface="+mn-ea"/>
              <a:cs typeface="+mn-cs"/>
            </a:endParaRPr>
          </a:p>
          <a:p>
            <a:r>
              <a:rPr lang="es-PE" sz="1200" b="0" i="0" kern="1200" dirty="0" smtClean="0">
                <a:solidFill>
                  <a:schemeClr val="tx1"/>
                </a:solidFill>
                <a:effectLst/>
                <a:latin typeface="+mn-lt"/>
                <a:ea typeface="+mn-ea"/>
                <a:cs typeface="+mn-cs"/>
              </a:rPr>
              <a:t>Regresemos a nuestra aplicación del mercado de valores. Para resolver el dilema de los formatos incompatibles, puedes crear adaptadores de XML a JSON para cada clase de la biblioteca de análisis con la que trabaje tu código directamente. Después ajustas tu código para que se comunique con la biblioteca únicamente a través de estos adaptadores. Cuando un adaptador recibe una llamada, traduce los datos XML entrantes a una estructura JSON y pasa la llamada a los métodos adecuados de un objeto de análisis envuelto.</a:t>
            </a:r>
          </a:p>
          <a:p>
            <a:endParaRPr lang="es-PE" sz="1200" b="0" i="0" kern="1200" dirty="0" smtClean="0">
              <a:solidFill>
                <a:schemeClr val="tx1"/>
              </a:solidFill>
              <a:effectLst/>
              <a:latin typeface="+mn-lt"/>
              <a:ea typeface="+mn-ea"/>
              <a:cs typeface="+mn-cs"/>
            </a:endParaRPr>
          </a:p>
          <a:p>
            <a:r>
              <a:rPr lang="es-PE" sz="1200" b="0" i="0" kern="1200" dirty="0" smtClean="0">
                <a:solidFill>
                  <a:schemeClr val="tx1"/>
                </a:solidFill>
                <a:effectLst/>
                <a:latin typeface="+mn-lt"/>
                <a:ea typeface="+mn-ea"/>
                <a:cs typeface="+mn-cs"/>
              </a:rPr>
              <a:t>Tipos de enchufe son diferentes en cada país</a:t>
            </a:r>
          </a:p>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18</a:t>
            </a:fld>
            <a:endParaRPr lang="es-PE"/>
          </a:p>
        </p:txBody>
      </p:sp>
    </p:spTree>
    <p:extLst>
      <p:ext uri="{BB962C8B-B14F-4D97-AF65-F5344CB8AC3E}">
        <p14:creationId xmlns:p14="http://schemas.microsoft.com/office/powerpoint/2010/main" val="12660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19</a:t>
            </a:fld>
            <a:endParaRPr lang="es-PE"/>
          </a:p>
        </p:txBody>
      </p:sp>
    </p:spTree>
    <p:extLst>
      <p:ext uri="{BB962C8B-B14F-4D97-AF65-F5344CB8AC3E}">
        <p14:creationId xmlns:p14="http://schemas.microsoft.com/office/powerpoint/2010/main" val="689432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r>
              <a:rPr lang="es-PE" sz="1200" b="0" i="0" kern="1200" dirty="0" smtClean="0">
                <a:solidFill>
                  <a:schemeClr val="tx1"/>
                </a:solidFill>
                <a:effectLst/>
                <a:latin typeface="+mn-lt"/>
                <a:ea typeface="+mn-ea"/>
                <a:cs typeface="+mn-cs"/>
              </a:rPr>
              <a:t>El patrón </a:t>
            </a:r>
            <a:r>
              <a:rPr lang="es-PE" sz="1200" b="0" i="0" kern="1200" dirty="0" err="1" smtClean="0">
                <a:solidFill>
                  <a:schemeClr val="tx1"/>
                </a:solidFill>
                <a:effectLst/>
                <a:latin typeface="+mn-lt"/>
                <a:ea typeface="+mn-ea"/>
                <a:cs typeface="+mn-cs"/>
              </a:rPr>
              <a:t>Adapter</a:t>
            </a:r>
            <a:r>
              <a:rPr lang="es-PE" sz="1200" b="0" i="0" kern="1200" dirty="0" smtClean="0">
                <a:solidFill>
                  <a:schemeClr val="tx1"/>
                </a:solidFill>
                <a:effectLst/>
                <a:latin typeface="+mn-lt"/>
                <a:ea typeface="+mn-ea"/>
                <a:cs typeface="+mn-cs"/>
              </a:rPr>
              <a:t> finge ser una pieza redonda con un radio igual a la mitad del diámetro del cuadrado (en otras palabras, el radio del círculo más pequeño en el que quepa la pieza cuadrada).</a:t>
            </a: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20</a:t>
            </a:fld>
            <a:endParaRPr lang="es-PE"/>
          </a:p>
        </p:txBody>
      </p:sp>
    </p:spTree>
    <p:extLst>
      <p:ext uri="{BB962C8B-B14F-4D97-AF65-F5344CB8AC3E}">
        <p14:creationId xmlns:p14="http://schemas.microsoft.com/office/powerpoint/2010/main" val="1993896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b="0" i="0" kern="1200" dirty="0" smtClean="0">
                <a:solidFill>
                  <a:schemeClr val="tx1"/>
                </a:solidFill>
                <a:effectLst/>
                <a:latin typeface="+mn-lt"/>
                <a:ea typeface="+mn-ea"/>
                <a:cs typeface="+mn-cs"/>
              </a:rPr>
              <a:t>El patrón </a:t>
            </a:r>
            <a:r>
              <a:rPr lang="es-PE" sz="1200" b="0" i="0" kern="1200" dirty="0" err="1" smtClean="0">
                <a:solidFill>
                  <a:schemeClr val="tx1"/>
                </a:solidFill>
                <a:effectLst/>
                <a:latin typeface="+mn-lt"/>
                <a:ea typeface="+mn-ea"/>
                <a:cs typeface="+mn-cs"/>
              </a:rPr>
              <a:t>Adapter</a:t>
            </a:r>
            <a:r>
              <a:rPr lang="es-PE" sz="1200" b="0" i="0" kern="1200" dirty="0" smtClean="0">
                <a:solidFill>
                  <a:schemeClr val="tx1"/>
                </a:solidFill>
                <a:effectLst/>
                <a:latin typeface="+mn-lt"/>
                <a:ea typeface="+mn-ea"/>
                <a:cs typeface="+mn-cs"/>
              </a:rPr>
              <a:t> te permite crear una clase intermedia que sirva como traductora entre tu código y una clase heredada, una clase de un tercero o cualquier otra clase con una interfaz extraña.</a:t>
            </a:r>
          </a:p>
          <a:p>
            <a:endParaRPr lang="es-PE" sz="1200" b="0" i="0" kern="1200" dirty="0" smtClean="0">
              <a:solidFill>
                <a:schemeClr val="tx1"/>
              </a:solidFill>
              <a:effectLst/>
              <a:latin typeface="+mn-lt"/>
              <a:ea typeface="+mn-ea"/>
              <a:cs typeface="+mn-cs"/>
            </a:endParaRPr>
          </a:p>
          <a:p>
            <a:r>
              <a:rPr lang="es-PE" sz="1200" b="0" i="0" kern="1200" dirty="0" smtClean="0">
                <a:solidFill>
                  <a:schemeClr val="tx1"/>
                </a:solidFill>
                <a:effectLst/>
                <a:latin typeface="+mn-lt"/>
                <a:ea typeface="+mn-ea"/>
                <a:cs typeface="+mn-cs"/>
              </a:rPr>
              <a:t>Puedes extender cada subclase y colocar la funcionalidad que falta, dentro de las nuevas clases hijas. No obstante, deberás duplicar el código en todas estas nuevas clases, lo cual </a:t>
            </a:r>
            <a:r>
              <a:rPr lang="es-PE" sz="1200" b="1" i="0" u="none" strike="noStrike" kern="1200" dirty="0" smtClean="0">
                <a:solidFill>
                  <a:schemeClr val="tx1"/>
                </a:solidFill>
                <a:effectLst/>
                <a:latin typeface="+mn-lt"/>
                <a:ea typeface="+mn-ea"/>
                <a:cs typeface="+mn-cs"/>
                <a:hlinkClick r:id="rId3"/>
              </a:rPr>
              <a:t>huele muy mal</a:t>
            </a:r>
            <a:r>
              <a:rPr lang="es-PE" sz="1200" b="0" i="0" kern="1200" dirty="0" smtClean="0">
                <a:solidFill>
                  <a:schemeClr val="tx1"/>
                </a:solidFill>
                <a:effectLst/>
                <a:latin typeface="+mn-lt"/>
                <a:ea typeface="+mn-ea"/>
                <a:cs typeface="+mn-cs"/>
              </a:rPr>
              <a:t>.</a:t>
            </a:r>
          </a:p>
          <a:p>
            <a:r>
              <a:rPr lang="es-PE" sz="1200" b="0" i="0" kern="1200" dirty="0" smtClean="0">
                <a:solidFill>
                  <a:schemeClr val="tx1"/>
                </a:solidFill>
                <a:effectLst/>
                <a:latin typeface="+mn-lt"/>
                <a:ea typeface="+mn-ea"/>
                <a:cs typeface="+mn-cs"/>
              </a:rPr>
              <a:t>Una solución mucho más elegante sería colocar la funcionalidad que falta dentro de una clase adaptadora. Después puedes envolver objetos a los que les falten funciones, dentro de la clase adaptadora, obteniendo esas funciones necesarias de un modo dinámico. Para que esto funcione, las clases en cuestión deben tener una interfaz común y el campo de la clase adaptadora debe seguir dicha interfaz. Este procedimiento es muy similar al del patrón </a:t>
            </a:r>
            <a:r>
              <a:rPr lang="es-PE" sz="1200" b="1" i="0" u="none" strike="noStrike" kern="1200" dirty="0" err="1" smtClean="0">
                <a:solidFill>
                  <a:schemeClr val="tx1"/>
                </a:solidFill>
                <a:effectLst/>
                <a:latin typeface="+mn-lt"/>
                <a:ea typeface="+mn-ea"/>
                <a:cs typeface="+mn-cs"/>
                <a:hlinkClick r:id="rId4"/>
              </a:rPr>
              <a:t>Decorator</a:t>
            </a:r>
            <a:r>
              <a:rPr lang="es-PE" sz="1200" b="0" i="0" kern="1200" dirty="0" smtClean="0">
                <a:solidFill>
                  <a:schemeClr val="tx1"/>
                </a:solidFill>
                <a:effectLst/>
                <a:latin typeface="+mn-lt"/>
                <a:ea typeface="+mn-ea"/>
                <a:cs typeface="+mn-cs"/>
              </a:rPr>
              <a:t>.</a:t>
            </a:r>
          </a:p>
          <a:p>
            <a:endParaRPr lang="es-PE" dirty="0" smtClean="0"/>
          </a:p>
          <a:p>
            <a:endParaRPr lang="es-PE" dirty="0" smtClean="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21</a:t>
            </a:fld>
            <a:endParaRPr lang="es-PE"/>
          </a:p>
        </p:txBody>
      </p:sp>
    </p:spTree>
    <p:extLst>
      <p:ext uri="{BB962C8B-B14F-4D97-AF65-F5344CB8AC3E}">
        <p14:creationId xmlns:p14="http://schemas.microsoft.com/office/powerpoint/2010/main" val="2610804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22</a:t>
            </a:fld>
            <a:endParaRPr lang="es-PE"/>
          </a:p>
        </p:txBody>
      </p:sp>
    </p:spTree>
    <p:extLst>
      <p:ext uri="{BB962C8B-B14F-4D97-AF65-F5344CB8AC3E}">
        <p14:creationId xmlns:p14="http://schemas.microsoft.com/office/powerpoint/2010/main" val="6508291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23</a:t>
            </a:fld>
            <a:endParaRPr lang="es-PE"/>
          </a:p>
        </p:txBody>
      </p:sp>
    </p:spTree>
    <p:extLst>
      <p:ext uri="{BB962C8B-B14F-4D97-AF65-F5344CB8AC3E}">
        <p14:creationId xmlns:p14="http://schemas.microsoft.com/office/powerpoint/2010/main" val="4013445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24</a:t>
            </a:fld>
            <a:endParaRPr lang="es-PE"/>
          </a:p>
        </p:txBody>
      </p:sp>
    </p:spTree>
    <p:extLst>
      <p:ext uri="{BB962C8B-B14F-4D97-AF65-F5344CB8AC3E}">
        <p14:creationId xmlns:p14="http://schemas.microsoft.com/office/powerpoint/2010/main" val="17794918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r>
              <a:rPr lang="es-PE" sz="1200" b="0" i="0" kern="1200" dirty="0" smtClean="0">
                <a:solidFill>
                  <a:schemeClr val="tx1"/>
                </a:solidFill>
                <a:effectLst/>
                <a:latin typeface="+mn-lt"/>
                <a:ea typeface="+mn-ea"/>
                <a:cs typeface="+mn-cs"/>
              </a:rPr>
              <a:t>En este ejemplo, el patrón </a:t>
            </a:r>
            <a:r>
              <a:rPr lang="es-PE" sz="1200" b="1" i="0" kern="1200" dirty="0" err="1" smtClean="0">
                <a:solidFill>
                  <a:schemeClr val="tx1"/>
                </a:solidFill>
                <a:effectLst/>
                <a:latin typeface="+mn-lt"/>
                <a:ea typeface="+mn-ea"/>
                <a:cs typeface="+mn-cs"/>
              </a:rPr>
              <a:t>Decorator</a:t>
            </a:r>
            <a:r>
              <a:rPr lang="es-PE" sz="1200" b="0" i="0" kern="1200" dirty="0" smtClean="0">
                <a:solidFill>
                  <a:schemeClr val="tx1"/>
                </a:solidFill>
                <a:effectLst/>
                <a:latin typeface="+mn-lt"/>
                <a:ea typeface="+mn-ea"/>
                <a:cs typeface="+mn-cs"/>
              </a:rPr>
              <a:t> te permite comprimir y encriptar información delicada independientemente del código que utiliza esos datos.</a:t>
            </a:r>
          </a:p>
          <a:p>
            <a:pPr marL="0" indent="0">
              <a:buFontTx/>
              <a:buNone/>
            </a:pPr>
            <a:endParaRPr lang="es-PE" sz="1200" b="0" i="0" kern="1200" dirty="0" smtClean="0">
              <a:solidFill>
                <a:schemeClr val="tx1"/>
              </a:solidFill>
              <a:effectLst/>
              <a:latin typeface="+mn-lt"/>
              <a:ea typeface="+mn-ea"/>
              <a:cs typeface="+mn-cs"/>
            </a:endParaRPr>
          </a:p>
          <a:p>
            <a:r>
              <a:rPr lang="es-PE" sz="1200" b="0" i="0" kern="1200" dirty="0" smtClean="0">
                <a:solidFill>
                  <a:schemeClr val="tx1"/>
                </a:solidFill>
                <a:effectLst/>
                <a:latin typeface="+mn-lt"/>
                <a:ea typeface="+mn-ea"/>
                <a:cs typeface="+mn-cs"/>
              </a:rPr>
              <a:t>La aplicación envuelve el objeto de la fuente de datos con un par de decoradores. Ambos </a:t>
            </a:r>
            <a:r>
              <a:rPr lang="es-PE" sz="1200" b="0" i="0" kern="1200" dirty="0" err="1" smtClean="0">
                <a:solidFill>
                  <a:schemeClr val="tx1"/>
                </a:solidFill>
                <a:effectLst/>
                <a:latin typeface="+mn-lt"/>
                <a:ea typeface="+mn-ea"/>
                <a:cs typeface="+mn-cs"/>
              </a:rPr>
              <a:t>wrappers</a:t>
            </a:r>
            <a:r>
              <a:rPr lang="es-PE" sz="1200" b="0" i="0" kern="1200" dirty="0" smtClean="0">
                <a:solidFill>
                  <a:schemeClr val="tx1"/>
                </a:solidFill>
                <a:effectLst/>
                <a:latin typeface="+mn-lt"/>
                <a:ea typeface="+mn-ea"/>
                <a:cs typeface="+mn-cs"/>
              </a:rPr>
              <a:t> cambian el modo en que los datos se escriben y se leen en el disco:</a:t>
            </a:r>
          </a:p>
          <a:p>
            <a:pPr marL="171450" indent="-171450">
              <a:buFont typeface="Arial" panose="020B0604020202020204" pitchFamily="34" charset="0"/>
              <a:buChar char="•"/>
            </a:pPr>
            <a:r>
              <a:rPr lang="es-PE" sz="1200" b="0" i="0" kern="1200" dirty="0" smtClean="0">
                <a:solidFill>
                  <a:schemeClr val="tx1"/>
                </a:solidFill>
                <a:effectLst/>
                <a:latin typeface="+mn-lt"/>
                <a:ea typeface="+mn-ea"/>
                <a:cs typeface="+mn-cs"/>
              </a:rPr>
              <a:t>Justo antes de que los datos se </a:t>
            </a:r>
            <a:r>
              <a:rPr lang="es-PE" sz="1200" b="1" i="0" kern="1200" dirty="0" smtClean="0">
                <a:solidFill>
                  <a:schemeClr val="tx1"/>
                </a:solidFill>
                <a:effectLst/>
                <a:latin typeface="+mn-lt"/>
                <a:ea typeface="+mn-ea"/>
                <a:cs typeface="+mn-cs"/>
              </a:rPr>
              <a:t>escriban en el disco</a:t>
            </a:r>
            <a:r>
              <a:rPr lang="es-PE" sz="1200" b="0" i="0" kern="1200" dirty="0" smtClean="0">
                <a:solidFill>
                  <a:schemeClr val="tx1"/>
                </a:solidFill>
                <a:effectLst/>
                <a:latin typeface="+mn-lt"/>
                <a:ea typeface="+mn-ea"/>
                <a:cs typeface="+mn-cs"/>
              </a:rPr>
              <a:t>, los decoradores los encriptan y comprimen. La clase original escribe en el archivo los datos encriptados y protegidos, sin conocer el cambio.</a:t>
            </a:r>
          </a:p>
          <a:p>
            <a:pPr marL="171450" indent="-171450">
              <a:buFont typeface="Arial" panose="020B0604020202020204" pitchFamily="34" charset="0"/>
              <a:buChar char="•"/>
            </a:pPr>
            <a:r>
              <a:rPr lang="es-PE" sz="1200" b="0" i="0" kern="1200" dirty="0" smtClean="0">
                <a:solidFill>
                  <a:schemeClr val="tx1"/>
                </a:solidFill>
                <a:effectLst/>
                <a:latin typeface="+mn-lt"/>
                <a:ea typeface="+mn-ea"/>
                <a:cs typeface="+mn-cs"/>
              </a:rPr>
              <a:t>Después de que los datos son </a:t>
            </a:r>
            <a:r>
              <a:rPr lang="es-PE" sz="1200" b="1" i="0" kern="1200" dirty="0" smtClean="0">
                <a:solidFill>
                  <a:schemeClr val="tx1"/>
                </a:solidFill>
                <a:effectLst/>
                <a:latin typeface="+mn-lt"/>
                <a:ea typeface="+mn-ea"/>
                <a:cs typeface="+mn-cs"/>
              </a:rPr>
              <a:t>leídos del disco</a:t>
            </a:r>
            <a:r>
              <a:rPr lang="es-PE" sz="1200" b="0" i="0" kern="1200" dirty="0" smtClean="0">
                <a:solidFill>
                  <a:schemeClr val="tx1"/>
                </a:solidFill>
                <a:effectLst/>
                <a:latin typeface="+mn-lt"/>
                <a:ea typeface="+mn-ea"/>
                <a:cs typeface="+mn-cs"/>
              </a:rPr>
              <a:t>, pasan por los mismos decoradores, que los descomprimen y decodifican.</a:t>
            </a:r>
          </a:p>
          <a:p>
            <a:r>
              <a:rPr lang="es-PE" sz="1200" b="0" i="0" kern="1200" dirty="0" smtClean="0">
                <a:solidFill>
                  <a:schemeClr val="tx1"/>
                </a:solidFill>
                <a:effectLst/>
                <a:latin typeface="+mn-lt"/>
                <a:ea typeface="+mn-ea"/>
                <a:cs typeface="+mn-cs"/>
              </a:rPr>
              <a:t>Los decoradores y la clase fuente de datos implementan la misma interfaz, lo que los hace intercambiables en el código cliente.</a:t>
            </a:r>
          </a:p>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25</a:t>
            </a:fld>
            <a:endParaRPr lang="es-PE"/>
          </a:p>
        </p:txBody>
      </p:sp>
    </p:spTree>
    <p:extLst>
      <p:ext uri="{BB962C8B-B14F-4D97-AF65-F5344CB8AC3E}">
        <p14:creationId xmlns:p14="http://schemas.microsoft.com/office/powerpoint/2010/main" val="42356183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b="0" i="0" kern="1200" dirty="0" smtClean="0">
                <a:solidFill>
                  <a:schemeClr val="tx1"/>
                </a:solidFill>
                <a:effectLst/>
                <a:latin typeface="+mn-lt"/>
                <a:ea typeface="+mn-ea"/>
                <a:cs typeface="+mn-cs"/>
              </a:rPr>
              <a:t>El patrón </a:t>
            </a:r>
            <a:r>
              <a:rPr lang="es-PE" sz="1200" b="0" i="0" kern="1200" dirty="0" err="1" smtClean="0">
                <a:solidFill>
                  <a:schemeClr val="tx1"/>
                </a:solidFill>
                <a:effectLst/>
                <a:latin typeface="+mn-lt"/>
                <a:ea typeface="+mn-ea"/>
                <a:cs typeface="+mn-cs"/>
              </a:rPr>
              <a:t>Decorator</a:t>
            </a:r>
            <a:r>
              <a:rPr lang="es-PE" sz="1200" b="0" i="0" kern="1200" dirty="0" smtClean="0">
                <a:solidFill>
                  <a:schemeClr val="tx1"/>
                </a:solidFill>
                <a:effectLst/>
                <a:latin typeface="+mn-lt"/>
                <a:ea typeface="+mn-ea"/>
                <a:cs typeface="+mn-cs"/>
              </a:rPr>
              <a:t> te permite estructurar tu lógica de negocio en capas, crear un decorador para cada capa y componer objetos con varias combinaciones de esta lógica, durante el tiempo de ejecución. El código cliente puede tratar a todos estos objetos de la misma forma, ya que todos siguen una interfaz común.</a:t>
            </a:r>
          </a:p>
          <a:p>
            <a:endParaRPr lang="es-PE" sz="1200" b="0" i="0" kern="1200" dirty="0" smtClean="0">
              <a:solidFill>
                <a:schemeClr val="tx1"/>
              </a:solidFill>
              <a:effectLst/>
              <a:latin typeface="+mn-lt"/>
              <a:ea typeface="+mn-ea"/>
              <a:cs typeface="+mn-cs"/>
            </a:endParaRPr>
          </a:p>
          <a:p>
            <a:r>
              <a:rPr lang="es-PE" sz="1200" b="0" i="0" kern="1200" dirty="0" smtClean="0">
                <a:solidFill>
                  <a:schemeClr val="tx1"/>
                </a:solidFill>
                <a:effectLst/>
                <a:latin typeface="+mn-lt"/>
                <a:ea typeface="+mn-ea"/>
                <a:cs typeface="+mn-cs"/>
              </a:rPr>
              <a:t>Muchos lenguajes de programación cuentan con la palabra clave </a:t>
            </a:r>
            <a:r>
              <a:rPr lang="es-PE" dirty="0" smtClean="0"/>
              <a:t>final</a:t>
            </a:r>
            <a:r>
              <a:rPr lang="es-PE" sz="1200" b="0" i="0" kern="1200" dirty="0" smtClean="0">
                <a:solidFill>
                  <a:schemeClr val="tx1"/>
                </a:solidFill>
                <a:effectLst/>
                <a:latin typeface="+mn-lt"/>
                <a:ea typeface="+mn-ea"/>
                <a:cs typeface="+mn-cs"/>
              </a:rPr>
              <a:t> que puede utilizarse para evitar que una clase siga extendiéndose. Para una clase final, la única forma de reutilizar el comportamiento existente será envolver la clase con tu propio </a:t>
            </a:r>
            <a:r>
              <a:rPr lang="es-PE" sz="1200" b="0" i="0" kern="1200" dirty="0" err="1" smtClean="0">
                <a:solidFill>
                  <a:schemeClr val="tx1"/>
                </a:solidFill>
                <a:effectLst/>
                <a:latin typeface="+mn-lt"/>
                <a:ea typeface="+mn-ea"/>
                <a:cs typeface="+mn-cs"/>
              </a:rPr>
              <a:t>wrapper</a:t>
            </a:r>
            <a:r>
              <a:rPr lang="es-PE" sz="1200" b="0" i="0" kern="1200" dirty="0" smtClean="0">
                <a:solidFill>
                  <a:schemeClr val="tx1"/>
                </a:solidFill>
                <a:effectLst/>
                <a:latin typeface="+mn-lt"/>
                <a:ea typeface="+mn-ea"/>
                <a:cs typeface="+mn-cs"/>
              </a:rPr>
              <a:t>, utilizando el patrón </a:t>
            </a:r>
            <a:r>
              <a:rPr lang="es-PE" sz="1200" b="0" i="0" kern="1200" dirty="0" err="1" smtClean="0">
                <a:solidFill>
                  <a:schemeClr val="tx1"/>
                </a:solidFill>
                <a:effectLst/>
                <a:latin typeface="+mn-lt"/>
                <a:ea typeface="+mn-ea"/>
                <a:cs typeface="+mn-cs"/>
              </a:rPr>
              <a:t>Decorator</a:t>
            </a:r>
            <a:r>
              <a:rPr lang="es-PE" sz="1200" b="0" i="0" kern="1200" dirty="0" smtClean="0">
                <a:solidFill>
                  <a:schemeClr val="tx1"/>
                </a:solidFill>
                <a:effectLst/>
                <a:latin typeface="+mn-lt"/>
                <a:ea typeface="+mn-ea"/>
                <a:cs typeface="+mn-cs"/>
              </a:rPr>
              <a:t>.</a:t>
            </a: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26</a:t>
            </a:fld>
            <a:endParaRPr lang="es-PE"/>
          </a:p>
        </p:txBody>
      </p:sp>
    </p:spTree>
    <p:extLst>
      <p:ext uri="{BB962C8B-B14F-4D97-AF65-F5344CB8AC3E}">
        <p14:creationId xmlns:p14="http://schemas.microsoft.com/office/powerpoint/2010/main" val="2851563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27</a:t>
            </a:fld>
            <a:endParaRPr lang="es-PE"/>
          </a:p>
        </p:txBody>
      </p:sp>
    </p:spTree>
    <p:extLst>
      <p:ext uri="{BB962C8B-B14F-4D97-AF65-F5344CB8AC3E}">
        <p14:creationId xmlns:p14="http://schemas.microsoft.com/office/powerpoint/2010/main" val="9334219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28</a:t>
            </a:fld>
            <a:endParaRPr lang="es-PE"/>
          </a:p>
        </p:txBody>
      </p:sp>
    </p:spTree>
    <p:extLst>
      <p:ext uri="{BB962C8B-B14F-4D97-AF65-F5344CB8AC3E}">
        <p14:creationId xmlns:p14="http://schemas.microsoft.com/office/powerpoint/2010/main" val="10402800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29</a:t>
            </a:fld>
            <a:endParaRPr lang="es-PE"/>
          </a:p>
        </p:txBody>
      </p:sp>
    </p:spTree>
    <p:extLst>
      <p:ext uri="{BB962C8B-B14F-4D97-AF65-F5344CB8AC3E}">
        <p14:creationId xmlns:p14="http://schemas.microsoft.com/office/powerpoint/2010/main" val="8838163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30</a:t>
            </a:fld>
            <a:endParaRPr lang="es-PE"/>
          </a:p>
        </p:txBody>
      </p:sp>
    </p:spTree>
    <p:extLst>
      <p:ext uri="{BB962C8B-B14F-4D97-AF65-F5344CB8AC3E}">
        <p14:creationId xmlns:p14="http://schemas.microsoft.com/office/powerpoint/2010/main" val="12339716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31</a:t>
            </a:fld>
            <a:endParaRPr lang="es-PE"/>
          </a:p>
        </p:txBody>
      </p:sp>
    </p:spTree>
    <p:extLst>
      <p:ext uri="{BB962C8B-B14F-4D97-AF65-F5344CB8AC3E}">
        <p14:creationId xmlns:p14="http://schemas.microsoft.com/office/powerpoint/2010/main" val="34232497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32</a:t>
            </a:fld>
            <a:endParaRPr lang="es-PE"/>
          </a:p>
        </p:txBody>
      </p:sp>
    </p:spTree>
    <p:extLst>
      <p:ext uri="{BB962C8B-B14F-4D97-AF65-F5344CB8AC3E}">
        <p14:creationId xmlns:p14="http://schemas.microsoft.com/office/powerpoint/2010/main" val="8086523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33</a:t>
            </a:fld>
            <a:endParaRPr lang="es-PE"/>
          </a:p>
        </p:txBody>
      </p:sp>
    </p:spTree>
    <p:extLst>
      <p:ext uri="{BB962C8B-B14F-4D97-AF65-F5344CB8AC3E}">
        <p14:creationId xmlns:p14="http://schemas.microsoft.com/office/powerpoint/2010/main" val="8833623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endParaRPr lang="es-PE" dirty="0"/>
          </a:p>
        </p:txBody>
      </p:sp>
      <p:sp>
        <p:nvSpPr>
          <p:cNvPr id="4" name="Marcador de número de diapositiva 3"/>
          <p:cNvSpPr>
            <a:spLocks noGrp="1"/>
          </p:cNvSpPr>
          <p:nvPr>
            <p:ph type="sldNum" sz="quarter" idx="10"/>
          </p:nvPr>
        </p:nvSpPr>
        <p:spPr/>
        <p:txBody>
          <a:bodyPr/>
          <a:lstStyle/>
          <a:p>
            <a:fld id="{994AB033-42B4-4618-BF87-09F65E9AB07B}" type="slidenum">
              <a:rPr lang="es-PE" smtClean="0"/>
              <a:t>34</a:t>
            </a:fld>
            <a:endParaRPr lang="es-PE"/>
          </a:p>
        </p:txBody>
      </p:sp>
    </p:spTree>
    <p:extLst>
      <p:ext uri="{BB962C8B-B14F-4D97-AF65-F5344CB8AC3E}">
        <p14:creationId xmlns:p14="http://schemas.microsoft.com/office/powerpoint/2010/main" val="2047224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P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0C06F43F-E743-46A0-9448-62220CFB1A8F}" type="datetimeFigureOut">
              <a:rPr lang="es-PE" smtClean="0"/>
              <a:t>25/09/2024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2937995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0C06F43F-E743-46A0-9448-62220CFB1A8F}" type="datetimeFigureOut">
              <a:rPr lang="es-PE" smtClean="0"/>
              <a:t>25/09/2024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2493051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0C06F43F-E743-46A0-9448-62220CFB1A8F}" type="datetimeFigureOut">
              <a:rPr lang="es-PE" smtClean="0"/>
              <a:t>25/09/2024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4189244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0C06F43F-E743-46A0-9448-62220CFB1A8F}" type="datetimeFigureOut">
              <a:rPr lang="es-PE" smtClean="0"/>
              <a:t>25/09/2024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3133246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0C06F43F-E743-46A0-9448-62220CFB1A8F}" type="datetimeFigureOut">
              <a:rPr lang="es-PE" smtClean="0"/>
              <a:t>25/09/2024</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4055889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0C06F43F-E743-46A0-9448-62220CFB1A8F}" type="datetimeFigureOut">
              <a:rPr lang="es-PE" smtClean="0"/>
              <a:t>25/09/2024</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2148949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C06F43F-E743-46A0-9448-62220CFB1A8F}" type="datetimeFigureOut">
              <a:rPr lang="es-PE" smtClean="0"/>
              <a:t>25/09/2024</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3806768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0C06F43F-E743-46A0-9448-62220CFB1A8F}" type="datetimeFigureOut">
              <a:rPr lang="es-PE" smtClean="0"/>
              <a:t>25/09/2024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504624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0C06F43F-E743-46A0-9448-62220CFB1A8F}" type="datetimeFigureOut">
              <a:rPr lang="es-PE" smtClean="0"/>
              <a:t>25/09/2024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2943829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0C06F43F-E743-46A0-9448-62220CFB1A8F}" type="datetimeFigureOut">
              <a:rPr lang="es-PE" smtClean="0"/>
              <a:t>25/09/2024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1078297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0C06F43F-E743-46A0-9448-62220CFB1A8F}" type="datetimeFigureOut">
              <a:rPr lang="es-PE" smtClean="0"/>
              <a:t>25/09/2024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7D94B12-0EA8-4F62-9458-73A519F31927}" type="slidenum">
              <a:rPr lang="es-PE" smtClean="0"/>
              <a:t>‹Nº›</a:t>
            </a:fld>
            <a:endParaRPr lang="es-PE"/>
          </a:p>
        </p:txBody>
      </p:sp>
    </p:spTree>
    <p:extLst>
      <p:ext uri="{BB962C8B-B14F-4D97-AF65-F5344CB8AC3E}">
        <p14:creationId xmlns:p14="http://schemas.microsoft.com/office/powerpoint/2010/main" val="2330297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0D406D"/>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415600" y="3778833"/>
            <a:ext cx="11360800" cy="10568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a:lnSpc>
                <a:spcPct val="100000"/>
              </a:lnSpc>
              <a:spcBef>
                <a:spcPts val="0"/>
              </a:spcBef>
              <a:spcAft>
                <a:spcPts val="0"/>
              </a:spcAft>
              <a:buClr>
                <a:srgbClr val="FFFFFF"/>
              </a:buClr>
              <a:buSzPts val="2800"/>
              <a:buNone/>
              <a:defRPr sz="3733">
                <a:solidFill>
                  <a:srgbClr val="FFFFFF"/>
                </a:solidFill>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PE" smtClean="0"/>
              <a:pPr/>
              <a:t>‹Nº›</a:t>
            </a:fld>
            <a:endParaRPr lang="es-PE"/>
          </a:p>
        </p:txBody>
      </p:sp>
      <p:pic>
        <p:nvPicPr>
          <p:cNvPr id="11" name="Google Shape;11;p2"/>
          <p:cNvPicPr preferRelativeResize="0"/>
          <p:nvPr/>
        </p:nvPicPr>
        <p:blipFill>
          <a:blip r:embed="rId2">
            <a:alphaModFix/>
          </a:blip>
          <a:stretch>
            <a:fillRect/>
          </a:stretch>
        </p:blipFill>
        <p:spPr>
          <a:xfrm>
            <a:off x="3583934" y="847801"/>
            <a:ext cx="4843501" cy="2724465"/>
          </a:xfrm>
          <a:prstGeom prst="rect">
            <a:avLst/>
          </a:prstGeom>
          <a:noFill/>
          <a:ln>
            <a:noFill/>
          </a:ln>
        </p:spPr>
      </p:pic>
      <p:sp>
        <p:nvSpPr>
          <p:cNvPr id="12" name="Google Shape;12;p2"/>
          <p:cNvSpPr/>
          <p:nvPr/>
        </p:nvSpPr>
        <p:spPr>
          <a:xfrm>
            <a:off x="0" y="6324767"/>
            <a:ext cx="12192000" cy="578800"/>
          </a:xfrm>
          <a:prstGeom prst="rect">
            <a:avLst/>
          </a:prstGeom>
          <a:solidFill>
            <a:srgbClr val="E9BB3D"/>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3" name="Google Shape;13;p2"/>
          <p:cNvCxnSpPr/>
          <p:nvPr/>
        </p:nvCxnSpPr>
        <p:spPr>
          <a:xfrm>
            <a:off x="3014367" y="3465833"/>
            <a:ext cx="5772800" cy="0"/>
          </a:xfrm>
          <a:prstGeom prst="straightConnector1">
            <a:avLst/>
          </a:prstGeom>
          <a:noFill/>
          <a:ln w="9525" cap="flat" cmpd="sng">
            <a:solidFill>
              <a:srgbClr val="E9BB3D"/>
            </a:solidFill>
            <a:prstDash val="solid"/>
            <a:round/>
            <a:headEnd type="none" w="med" len="med"/>
            <a:tailEnd type="none" w="med" len="med"/>
          </a:ln>
        </p:spPr>
      </p:cxnSp>
    </p:spTree>
    <p:extLst>
      <p:ext uri="{BB962C8B-B14F-4D97-AF65-F5344CB8AC3E}">
        <p14:creationId xmlns:p14="http://schemas.microsoft.com/office/powerpoint/2010/main" val="35910000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6" name="Google Shape;16;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PE" smtClean="0"/>
              <a:pPr/>
              <a:t>‹Nº›</a:t>
            </a:fld>
            <a:endParaRPr lang="es-PE"/>
          </a:p>
        </p:txBody>
      </p:sp>
      <p:sp>
        <p:nvSpPr>
          <p:cNvPr id="17" name="Google Shape;17;p3"/>
          <p:cNvSpPr/>
          <p:nvPr/>
        </p:nvSpPr>
        <p:spPr>
          <a:xfrm>
            <a:off x="-53833" y="6324767"/>
            <a:ext cx="12246000" cy="578800"/>
          </a:xfrm>
          <a:prstGeom prst="rect">
            <a:avLst/>
          </a:prstGeom>
          <a:solidFill>
            <a:srgbClr val="E9BB3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 name="Google Shape;18;p3"/>
          <p:cNvSpPr/>
          <p:nvPr/>
        </p:nvSpPr>
        <p:spPr>
          <a:xfrm>
            <a:off x="-53833" y="-45567"/>
            <a:ext cx="12340000" cy="1068400"/>
          </a:xfrm>
          <a:prstGeom prst="rect">
            <a:avLst/>
          </a:prstGeom>
          <a:solidFill>
            <a:srgbClr val="0D406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19" name="Google Shape;19;p3"/>
          <p:cNvPicPr preferRelativeResize="0"/>
          <p:nvPr/>
        </p:nvPicPr>
        <p:blipFill>
          <a:blip r:embed="rId2">
            <a:alphaModFix/>
          </a:blip>
          <a:stretch>
            <a:fillRect/>
          </a:stretch>
        </p:blipFill>
        <p:spPr>
          <a:xfrm>
            <a:off x="206367" y="-138415"/>
            <a:ext cx="2229536" cy="1254100"/>
          </a:xfrm>
          <a:prstGeom prst="rect">
            <a:avLst/>
          </a:prstGeom>
          <a:noFill/>
          <a:ln>
            <a:noFill/>
          </a:ln>
        </p:spPr>
      </p:pic>
      <p:sp>
        <p:nvSpPr>
          <p:cNvPr id="20" name="Google Shape;20;p3"/>
          <p:cNvSpPr/>
          <p:nvPr/>
        </p:nvSpPr>
        <p:spPr>
          <a:xfrm>
            <a:off x="-6833" y="1022833"/>
            <a:ext cx="12246000" cy="34000"/>
          </a:xfrm>
          <a:prstGeom prst="rect">
            <a:avLst/>
          </a:prstGeom>
          <a:solidFill>
            <a:srgbClr val="E9BB3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46490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6741933" y="2423567"/>
            <a:ext cx="4494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PE" smtClean="0"/>
              <a:pPr/>
              <a:t>‹Nº›</a:t>
            </a:fld>
            <a:endParaRPr lang="es-PE"/>
          </a:p>
        </p:txBody>
      </p:sp>
      <p:sp>
        <p:nvSpPr>
          <p:cNvPr id="32" name="Google Shape;32;p5"/>
          <p:cNvSpPr/>
          <p:nvPr/>
        </p:nvSpPr>
        <p:spPr>
          <a:xfrm>
            <a:off x="-74000" y="-45567"/>
            <a:ext cx="6170000" cy="6949200"/>
          </a:xfrm>
          <a:prstGeom prst="rect">
            <a:avLst/>
          </a:prstGeom>
          <a:solidFill>
            <a:srgbClr val="0D406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33" name="Google Shape;33;p5"/>
          <p:cNvPicPr preferRelativeResize="0"/>
          <p:nvPr/>
        </p:nvPicPr>
        <p:blipFill>
          <a:blip r:embed="rId2">
            <a:alphaModFix/>
          </a:blip>
          <a:stretch>
            <a:fillRect/>
          </a:stretch>
        </p:blipFill>
        <p:spPr>
          <a:xfrm>
            <a:off x="206367" y="-138415"/>
            <a:ext cx="2229536" cy="1254100"/>
          </a:xfrm>
          <a:prstGeom prst="rect">
            <a:avLst/>
          </a:prstGeom>
          <a:noFill/>
          <a:ln>
            <a:noFill/>
          </a:ln>
        </p:spPr>
      </p:pic>
      <p:sp>
        <p:nvSpPr>
          <p:cNvPr id="34" name="Google Shape;34;p5"/>
          <p:cNvSpPr/>
          <p:nvPr/>
        </p:nvSpPr>
        <p:spPr>
          <a:xfrm>
            <a:off x="-155433" y="1097567"/>
            <a:ext cx="2766000" cy="34000"/>
          </a:xfrm>
          <a:prstGeom prst="rect">
            <a:avLst/>
          </a:prstGeom>
          <a:solidFill>
            <a:srgbClr val="E9BB3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5"/>
          <p:cNvSpPr txBox="1">
            <a:spLocks noGrp="1"/>
          </p:cNvSpPr>
          <p:nvPr>
            <p:ph type="title" idx="2"/>
          </p:nvPr>
        </p:nvSpPr>
        <p:spPr>
          <a:xfrm>
            <a:off x="538267" y="2194667"/>
            <a:ext cx="4750400" cy="7636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FFFFFF"/>
              </a:buClr>
              <a:buSzPts val="2800"/>
              <a:buNone/>
              <a:defRPr>
                <a:solidFill>
                  <a:srgbClr val="FFFFFF"/>
                </a:solidFill>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a:endParaRPr/>
          </a:p>
        </p:txBody>
      </p:sp>
      <p:sp>
        <p:nvSpPr>
          <p:cNvPr id="36" name="Google Shape;36;p5"/>
          <p:cNvSpPr/>
          <p:nvPr/>
        </p:nvSpPr>
        <p:spPr>
          <a:xfrm>
            <a:off x="-53833" y="6324767"/>
            <a:ext cx="6170000" cy="578800"/>
          </a:xfrm>
          <a:prstGeom prst="rect">
            <a:avLst/>
          </a:prstGeom>
          <a:solidFill>
            <a:srgbClr val="E9BB3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597461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06F43F-E743-46A0-9448-62220CFB1A8F}" type="datetimeFigureOut">
              <a:rPr lang="es-PE" smtClean="0"/>
              <a:t>25/09/2024</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D94B12-0EA8-4F62-9458-73A519F31927}" type="slidenum">
              <a:rPr lang="es-PE" smtClean="0"/>
              <a:t>‹Nº›</a:t>
            </a:fld>
            <a:endParaRPr lang="es-PE"/>
          </a:p>
        </p:txBody>
      </p:sp>
    </p:spTree>
    <p:extLst>
      <p:ext uri="{BB962C8B-B14F-4D97-AF65-F5344CB8AC3E}">
        <p14:creationId xmlns:p14="http://schemas.microsoft.com/office/powerpoint/2010/main" val="222138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subTitle" idx="1"/>
          </p:nvPr>
        </p:nvSpPr>
        <p:spPr>
          <a:xfrm>
            <a:off x="415600" y="3778833"/>
            <a:ext cx="11360800" cy="1056800"/>
          </a:xfrm>
          <a:prstGeom prst="rect">
            <a:avLst/>
          </a:prstGeom>
        </p:spPr>
        <p:txBody>
          <a:bodyPr spcFirstLastPara="1" vert="horz" wrap="square" lIns="121900" tIns="121900" rIns="121900" bIns="121900" rtlCol="0" anchor="ctr" anchorCtr="0">
            <a:noAutofit/>
          </a:bodyPr>
          <a:lstStyle/>
          <a:p>
            <a:r>
              <a:rPr lang="es-PE" sz="2533" dirty="0" smtClean="0"/>
              <a:t>S4: Patrones estructurales</a:t>
            </a:r>
          </a:p>
          <a:p>
            <a:r>
              <a:rPr lang="es-PE" sz="2533" dirty="0" smtClean="0"/>
              <a:t>Profesora: Milagros </a:t>
            </a:r>
            <a:r>
              <a:rPr lang="es-PE" sz="2533" dirty="0" err="1" smtClean="0"/>
              <a:t>Nuñez</a:t>
            </a:r>
            <a:endParaRPr lang="es-PE" sz="2533" dirty="0" smtClean="0"/>
          </a:p>
        </p:txBody>
      </p:sp>
    </p:spTree>
    <p:extLst>
      <p:ext uri="{BB962C8B-B14F-4D97-AF65-F5344CB8AC3E}">
        <p14:creationId xmlns:p14="http://schemas.microsoft.com/office/powerpoint/2010/main" val="14555770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B86D02F-0CD5-4AFC-B6D9-5EE9FD67FE78}"/>
              </a:ext>
            </a:extLst>
          </p:cNvPr>
          <p:cNvSpPr/>
          <p:nvPr/>
        </p:nvSpPr>
        <p:spPr>
          <a:xfrm>
            <a:off x="-33401" y="2214881"/>
            <a:ext cx="196140" cy="2453284"/>
          </a:xfrm>
          <a:prstGeom prst="rect">
            <a:avLst/>
          </a:prstGeom>
          <a:solidFill>
            <a:srgbClr val="FFC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1772"/>
          </a:p>
        </p:txBody>
      </p:sp>
      <p:sp>
        <p:nvSpPr>
          <p:cNvPr id="5" name="Rectángulo 4">
            <a:extLst>
              <a:ext uri="{FF2B5EF4-FFF2-40B4-BE49-F238E27FC236}">
                <a16:creationId xmlns:a16="http://schemas.microsoft.com/office/drawing/2014/main" id="{DBF6FDD6-EAEE-4319-8CF7-2B0C30C440F2}"/>
              </a:ext>
            </a:extLst>
          </p:cNvPr>
          <p:cNvSpPr/>
          <p:nvPr/>
        </p:nvSpPr>
        <p:spPr>
          <a:xfrm>
            <a:off x="-33401" y="4308572"/>
            <a:ext cx="210990" cy="359591"/>
          </a:xfrm>
          <a:prstGeom prst="rect">
            <a:avLst/>
          </a:prstGeom>
          <a:solidFill>
            <a:srgbClr val="486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1772"/>
          </a:p>
        </p:txBody>
      </p:sp>
      <p:pic>
        <p:nvPicPr>
          <p:cNvPr id="1026" name="Picture 2" descr="Free photo successful business partners discussing contract">
            <a:extLst>
              <a:ext uri="{FF2B5EF4-FFF2-40B4-BE49-F238E27FC236}">
                <a16:creationId xmlns:a16="http://schemas.microsoft.com/office/drawing/2014/main" id="{255BA62F-7C06-451B-B547-074435C1D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920" y="2472826"/>
            <a:ext cx="3649899" cy="2208794"/>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D67A27EB-DBF5-4418-A112-03AB2995539A}"/>
              </a:ext>
            </a:extLst>
          </p:cNvPr>
          <p:cNvSpPr/>
          <p:nvPr/>
        </p:nvSpPr>
        <p:spPr>
          <a:xfrm>
            <a:off x="4125559" y="2572768"/>
            <a:ext cx="3307628" cy="527464"/>
          </a:xfrm>
          <a:prstGeom prst="rect">
            <a:avLst/>
          </a:prstGeom>
          <a:solidFill>
            <a:srgbClr val="486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1772"/>
          </a:p>
        </p:txBody>
      </p:sp>
      <p:sp>
        <p:nvSpPr>
          <p:cNvPr id="18" name="CuadroTexto 17">
            <a:extLst>
              <a:ext uri="{FF2B5EF4-FFF2-40B4-BE49-F238E27FC236}">
                <a16:creationId xmlns:a16="http://schemas.microsoft.com/office/drawing/2014/main" id="{8FDC526C-53F5-48E0-989E-36BCB4242E36}"/>
              </a:ext>
            </a:extLst>
          </p:cNvPr>
          <p:cNvSpPr txBox="1"/>
          <p:nvPr/>
        </p:nvSpPr>
        <p:spPr>
          <a:xfrm>
            <a:off x="3965515" y="2608520"/>
            <a:ext cx="3515206" cy="455959"/>
          </a:xfrm>
          <a:prstGeom prst="rect">
            <a:avLst/>
          </a:prstGeom>
          <a:noFill/>
        </p:spPr>
        <p:txBody>
          <a:bodyPr wrap="square" rtlCol="0">
            <a:spAutoFit/>
          </a:bodyPr>
          <a:lstStyle/>
          <a:p>
            <a:pPr algn="ctr"/>
            <a:r>
              <a:rPr lang="es-PE" sz="2363" dirty="0" smtClean="0">
                <a:solidFill>
                  <a:schemeClr val="bg1"/>
                </a:solidFill>
                <a:latin typeface="Lato" panose="020F0502020204030203" pitchFamily="34" charset="0"/>
                <a:ea typeface="Lato" panose="020F0502020204030203" pitchFamily="34" charset="0"/>
                <a:cs typeface="Lato" panose="020F0502020204030203" pitchFamily="34" charset="0"/>
              </a:rPr>
              <a:t>INTRODUCCIÓN</a:t>
            </a:r>
            <a:endParaRPr lang="es-PE" sz="2363"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22" name="CuadroTexto 21">
            <a:extLst>
              <a:ext uri="{FF2B5EF4-FFF2-40B4-BE49-F238E27FC236}">
                <a16:creationId xmlns:a16="http://schemas.microsoft.com/office/drawing/2014/main" id="{8317C28D-A8C3-45B6-8443-98394E259370}"/>
              </a:ext>
            </a:extLst>
          </p:cNvPr>
          <p:cNvSpPr txBox="1"/>
          <p:nvPr/>
        </p:nvSpPr>
        <p:spPr>
          <a:xfrm>
            <a:off x="4935135" y="3237553"/>
            <a:ext cx="6000227" cy="523220"/>
          </a:xfrm>
          <a:prstGeom prst="rect">
            <a:avLst/>
          </a:prstGeom>
          <a:noFill/>
        </p:spPr>
        <p:txBody>
          <a:bodyPr wrap="square" rtlCol="0">
            <a:spAutoFit/>
          </a:bodyPr>
          <a:lstStyle/>
          <a:p>
            <a:pPr algn="just"/>
            <a:r>
              <a:rPr lang="es-MX" sz="1400" b="1" dirty="0">
                <a:latin typeface="Lato" panose="020F0502020204030203" pitchFamily="34" charset="0"/>
                <a:ea typeface="Lato" panose="020F0502020204030203" pitchFamily="34" charset="0"/>
                <a:cs typeface="Lato" panose="020F0502020204030203" pitchFamily="34" charset="0"/>
              </a:rPr>
              <a:t>¡Buenos días chicos! </a:t>
            </a:r>
            <a:r>
              <a:rPr lang="es-MX" sz="1400" dirty="0" smtClean="0">
                <a:latin typeface="Lato" panose="020F0502020204030203" pitchFamily="34" charset="0"/>
                <a:ea typeface="Lato" panose="020F0502020204030203" pitchFamily="34" charset="0"/>
                <a:cs typeface="Lato" panose="020F0502020204030203" pitchFamily="34" charset="0"/>
              </a:rPr>
              <a:t>Continuando con los conceptos de diseño, el día de hoy trataremos los Patrones de Diseño de tipo estructurales. </a:t>
            </a:r>
            <a:r>
              <a:rPr lang="es-MX" sz="1400" b="1" dirty="0" smtClean="0">
                <a:latin typeface="Lato" panose="020F0502020204030203" pitchFamily="34" charset="0"/>
                <a:ea typeface="Lato" panose="020F0502020204030203" pitchFamily="34" charset="0"/>
                <a:cs typeface="Lato" panose="020F0502020204030203" pitchFamily="34" charset="0"/>
              </a:rPr>
              <a:t>¡Vamos!</a:t>
            </a:r>
            <a:endParaRPr lang="es-PE" sz="1400" dirty="0">
              <a:latin typeface="Lato" panose="020F0502020204030203" pitchFamily="34" charset="0"/>
              <a:ea typeface="Lato" panose="020F0502020204030203" pitchFamily="34" charset="0"/>
              <a:cs typeface="Lato" panose="020F0502020204030203" pitchFamily="34" charset="0"/>
            </a:endParaRPr>
          </a:p>
        </p:txBody>
      </p:sp>
      <p:pic>
        <p:nvPicPr>
          <p:cNvPr id="26" name="Gráfico 25">
            <a:extLst>
              <a:ext uri="{FF2B5EF4-FFF2-40B4-BE49-F238E27FC236}">
                <a16:creationId xmlns:a16="http://schemas.microsoft.com/office/drawing/2014/main" id="{FC77E6B6-1912-41E1-A8F1-92AD1FA3080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4169485" y="3843744"/>
            <a:ext cx="656492" cy="225083"/>
          </a:xfrm>
          <a:prstGeom prst="rect">
            <a:avLst/>
          </a:prstGeom>
        </p:spPr>
      </p:pic>
      <p:pic>
        <p:nvPicPr>
          <p:cNvPr id="12" name="Gráfico 11">
            <a:extLst>
              <a:ext uri="{FF2B5EF4-FFF2-40B4-BE49-F238E27FC236}">
                <a16:creationId xmlns:a16="http://schemas.microsoft.com/office/drawing/2014/main" id="{9058F307-1FA1-4399-9029-AED4148F000C}"/>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1249764" y="4292915"/>
            <a:ext cx="956603" cy="103163"/>
          </a:xfrm>
          <a:prstGeom prst="rect">
            <a:avLst/>
          </a:prstGeom>
        </p:spPr>
      </p:pic>
      <p:sp>
        <p:nvSpPr>
          <p:cNvPr id="13" name="Rectángulo 12">
            <a:extLst>
              <a:ext uri="{FF2B5EF4-FFF2-40B4-BE49-F238E27FC236}">
                <a16:creationId xmlns:a16="http://schemas.microsoft.com/office/drawing/2014/main" id="{3F1F198A-1536-4B15-9B43-FBFD6B73D205}"/>
              </a:ext>
            </a:extLst>
          </p:cNvPr>
          <p:cNvSpPr/>
          <p:nvPr/>
        </p:nvSpPr>
        <p:spPr>
          <a:xfrm>
            <a:off x="11235963" y="2540816"/>
            <a:ext cx="956039" cy="960512"/>
          </a:xfrm>
          <a:prstGeom prst="rect">
            <a:avLst/>
          </a:prstGeom>
          <a:solidFill>
            <a:srgbClr val="FFC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1772" dirty="0"/>
          </a:p>
        </p:txBody>
      </p:sp>
      <p:pic>
        <p:nvPicPr>
          <p:cNvPr id="14" name="Gráfico 13">
            <a:extLst>
              <a:ext uri="{FF2B5EF4-FFF2-40B4-BE49-F238E27FC236}">
                <a16:creationId xmlns:a16="http://schemas.microsoft.com/office/drawing/2014/main" id="{8AFC4740-113F-417D-A152-7AAD6D980CE9}"/>
              </a:ext>
            </a:extLst>
          </p:cNvPr>
          <p:cNvPicPr>
            <a:picLocks noChangeAspect="1"/>
          </p:cNvPicPr>
          <p:nvPr/>
        </p:nvPicPr>
        <p:blipFill>
          <a:blip r:embed="rId7">
            <a:extLst>
              <a:ext uri="{96DAC541-7B7A-43D3-8B79-37D633B846F1}">
                <asvg:svgBlip xmlns="" xmlns:asvg="http://schemas.microsoft.com/office/drawing/2016/SVG/main" r:embed="rId8"/>
              </a:ext>
            </a:extLst>
          </a:blip>
          <a:stretch>
            <a:fillRect/>
          </a:stretch>
        </p:blipFill>
        <p:spPr>
          <a:xfrm>
            <a:off x="11244777" y="3678438"/>
            <a:ext cx="947225" cy="506437"/>
          </a:xfrm>
          <a:prstGeom prst="rect">
            <a:avLst/>
          </a:prstGeom>
        </p:spPr>
      </p:pic>
      <p:pic>
        <p:nvPicPr>
          <p:cNvPr id="15" name="Gráfico 14">
            <a:extLst>
              <a:ext uri="{FF2B5EF4-FFF2-40B4-BE49-F238E27FC236}">
                <a16:creationId xmlns:a16="http://schemas.microsoft.com/office/drawing/2014/main" id="{357FB471-6FE3-4976-89D5-EAB8DF70457C}"/>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1249764" y="4488368"/>
            <a:ext cx="956603" cy="103163"/>
          </a:xfrm>
          <a:prstGeom prst="rect">
            <a:avLst/>
          </a:prstGeom>
        </p:spPr>
      </p:pic>
      <p:pic>
        <p:nvPicPr>
          <p:cNvPr id="2" name="Picture 2" descr="Análisis y Diseño de Sistemas - Teorema"/>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6450" y="2123929"/>
            <a:ext cx="3648418" cy="2696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4419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01475" y="2774411"/>
            <a:ext cx="5971288" cy="1122400"/>
          </a:xfrm>
        </p:spPr>
        <p:txBody>
          <a:bodyPr>
            <a:noAutofit/>
          </a:bodyPr>
          <a:lstStyle/>
          <a:p>
            <a:pPr algn="l"/>
            <a:r>
              <a:rPr lang="es-PE" sz="4400" b="1" dirty="0" smtClean="0">
                <a:solidFill>
                  <a:schemeClr val="accent1"/>
                </a:solidFill>
                <a:effectLst>
                  <a:outerShdw blurRad="38100" dist="38100" dir="2700000" algn="tl">
                    <a:srgbClr val="000000">
                      <a:alpha val="43137"/>
                    </a:srgbClr>
                  </a:outerShdw>
                </a:effectLst>
              </a:rPr>
              <a:t>PATRONES DE DISEÑO</a:t>
            </a:r>
            <a:endParaRPr lang="es-PE" sz="4400" b="1" dirty="0">
              <a:solidFill>
                <a:schemeClr val="accent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945158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4191972" y="1482548"/>
            <a:ext cx="3783106" cy="548741"/>
          </a:xfrm>
        </p:spPr>
        <p:txBody>
          <a:bodyPr>
            <a:noAutofit/>
          </a:bodyPr>
          <a:lstStyle/>
          <a:p>
            <a:pPr algn="l"/>
            <a:r>
              <a:rPr lang="es-PE" sz="3600" b="1" dirty="0">
                <a:solidFill>
                  <a:srgbClr val="FF6600"/>
                </a:solidFill>
                <a:effectLst>
                  <a:outerShdw blurRad="38100" dist="38100" dir="2700000" algn="tl">
                    <a:srgbClr val="000000">
                      <a:alpha val="43137"/>
                    </a:srgbClr>
                  </a:outerShdw>
                </a:effectLst>
              </a:rPr>
              <a:t>Tipos de Patrones</a:t>
            </a:r>
          </a:p>
        </p:txBody>
      </p:sp>
      <p:sp>
        <p:nvSpPr>
          <p:cNvPr id="2" name="Elipse 1"/>
          <p:cNvSpPr/>
          <p:nvPr/>
        </p:nvSpPr>
        <p:spPr>
          <a:xfrm>
            <a:off x="619689" y="3070518"/>
            <a:ext cx="2700000" cy="1196622"/>
          </a:xfrm>
          <a:prstGeom prst="ellipse">
            <a:avLst/>
          </a:prstGeom>
          <a:solidFill>
            <a:schemeClr val="bg2">
              <a:lumMod val="75000"/>
            </a:schemeClr>
          </a:solidFill>
          <a:ln w="57150">
            <a:solidFill>
              <a:srgbClr val="76A7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PE" sz="2000" b="1" dirty="0" smtClean="0">
                <a:solidFill>
                  <a:schemeClr val="accent6"/>
                </a:solidFill>
                <a:effectLst>
                  <a:outerShdw blurRad="38100" dist="38100" dir="2700000" algn="tl">
                    <a:srgbClr val="000000">
                      <a:alpha val="43137"/>
                    </a:srgbClr>
                  </a:outerShdw>
                </a:effectLst>
              </a:rPr>
              <a:t>Patrones Arquitectónicos</a:t>
            </a:r>
            <a:endParaRPr lang="es-PE" sz="2000" b="1" dirty="0">
              <a:solidFill>
                <a:schemeClr val="accent6"/>
              </a:solidFill>
              <a:effectLst>
                <a:outerShdw blurRad="38100" dist="38100" dir="2700000" algn="tl">
                  <a:srgbClr val="000000">
                    <a:alpha val="43137"/>
                  </a:srgbClr>
                </a:outerShdw>
              </a:effectLst>
            </a:endParaRPr>
          </a:p>
        </p:txBody>
      </p:sp>
      <p:sp>
        <p:nvSpPr>
          <p:cNvPr id="7" name="Elipse 6"/>
          <p:cNvSpPr/>
          <p:nvPr/>
        </p:nvSpPr>
        <p:spPr>
          <a:xfrm>
            <a:off x="3919658" y="3168311"/>
            <a:ext cx="2540000" cy="1196622"/>
          </a:xfrm>
          <a:prstGeom prst="ellipse">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2000" b="1" dirty="0">
                <a:solidFill>
                  <a:srgbClr val="5B9BD5"/>
                </a:solidFill>
                <a:effectLst>
                  <a:outerShdw blurRad="38100" dist="38100" dir="2700000" algn="tl">
                    <a:srgbClr val="000000">
                      <a:alpha val="43137"/>
                    </a:srgbClr>
                  </a:outerShdw>
                </a:effectLst>
              </a:rPr>
              <a:t>Patrones de Diseño</a:t>
            </a:r>
          </a:p>
        </p:txBody>
      </p:sp>
      <p:sp>
        <p:nvSpPr>
          <p:cNvPr id="3" name="Rectángulo redondeado 2"/>
          <p:cNvSpPr/>
          <p:nvPr/>
        </p:nvSpPr>
        <p:spPr>
          <a:xfrm>
            <a:off x="6804589" y="2242983"/>
            <a:ext cx="2324894" cy="738278"/>
          </a:xfrm>
          <a:prstGeom prst="roundRect">
            <a:avLst/>
          </a:prstGeom>
          <a:solidFill>
            <a:schemeClr val="bg2">
              <a:lumMod val="7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1900" b="1" dirty="0">
                <a:solidFill>
                  <a:srgbClr val="5B9BD5"/>
                </a:solidFill>
                <a:effectLst>
                  <a:outerShdw blurRad="38100" dist="38100" dir="2700000" algn="tl">
                    <a:srgbClr val="000000">
                      <a:alpha val="43137"/>
                    </a:srgbClr>
                  </a:outerShdw>
                </a:effectLst>
              </a:rPr>
              <a:t>De Creación</a:t>
            </a:r>
          </a:p>
        </p:txBody>
      </p:sp>
      <p:sp>
        <p:nvSpPr>
          <p:cNvPr id="8" name="Rectángulo redondeado 7"/>
          <p:cNvSpPr/>
          <p:nvPr/>
        </p:nvSpPr>
        <p:spPr>
          <a:xfrm>
            <a:off x="6804588" y="3458789"/>
            <a:ext cx="2324894" cy="738278"/>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1900" b="1" dirty="0">
                <a:solidFill>
                  <a:srgbClr val="5B9BD5"/>
                </a:solidFill>
                <a:effectLst>
                  <a:outerShdw blurRad="38100" dist="38100" dir="2700000" algn="tl">
                    <a:srgbClr val="000000">
                      <a:alpha val="43137"/>
                    </a:srgbClr>
                  </a:outerShdw>
                </a:effectLst>
              </a:rPr>
              <a:t>Estructurales</a:t>
            </a:r>
          </a:p>
        </p:txBody>
      </p:sp>
      <p:sp>
        <p:nvSpPr>
          <p:cNvPr id="9" name="Rectángulo redondeado 8"/>
          <p:cNvSpPr/>
          <p:nvPr/>
        </p:nvSpPr>
        <p:spPr>
          <a:xfrm>
            <a:off x="6804588" y="4674595"/>
            <a:ext cx="2324894" cy="738278"/>
          </a:xfrm>
          <a:prstGeom prst="roundRect">
            <a:avLst/>
          </a:prstGeom>
          <a:solidFill>
            <a:schemeClr val="bg2">
              <a:lumMod val="7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1900" b="1" dirty="0">
                <a:solidFill>
                  <a:srgbClr val="5B9BD5"/>
                </a:solidFill>
                <a:effectLst>
                  <a:outerShdw blurRad="38100" dist="38100" dir="2700000" algn="tl">
                    <a:srgbClr val="000000">
                      <a:alpha val="43137"/>
                    </a:srgbClr>
                  </a:outerShdw>
                </a:effectLst>
              </a:rPr>
              <a:t>De Comportamiento</a:t>
            </a:r>
          </a:p>
        </p:txBody>
      </p:sp>
      <p:cxnSp>
        <p:nvCxnSpPr>
          <p:cNvPr id="20" name="Conector recto 19"/>
          <p:cNvCxnSpPr>
            <a:stCxn id="7" idx="7"/>
            <a:endCxn id="3" idx="1"/>
          </p:cNvCxnSpPr>
          <p:nvPr/>
        </p:nvCxnSpPr>
        <p:spPr>
          <a:xfrm flipV="1">
            <a:off x="6087684" y="2612122"/>
            <a:ext cx="716905" cy="7314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Conector recto 20"/>
          <p:cNvCxnSpPr>
            <a:stCxn id="7" idx="6"/>
            <a:endCxn id="8" idx="1"/>
          </p:cNvCxnSpPr>
          <p:nvPr/>
        </p:nvCxnSpPr>
        <p:spPr>
          <a:xfrm>
            <a:off x="6459658" y="3766622"/>
            <a:ext cx="344930" cy="613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Conector recto 23"/>
          <p:cNvCxnSpPr>
            <a:stCxn id="7" idx="5"/>
            <a:endCxn id="9" idx="1"/>
          </p:cNvCxnSpPr>
          <p:nvPr/>
        </p:nvCxnSpPr>
        <p:spPr>
          <a:xfrm>
            <a:off x="6087684" y="4189692"/>
            <a:ext cx="716904" cy="85404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1" name="Abrir llave 80"/>
          <p:cNvSpPr/>
          <p:nvPr/>
        </p:nvSpPr>
        <p:spPr>
          <a:xfrm>
            <a:off x="9387433" y="3370728"/>
            <a:ext cx="92287" cy="914400"/>
          </a:xfrm>
          <a:prstGeom prst="leftBrace">
            <a:avLst>
              <a:gd name="adj1" fmla="val 247706"/>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82" name="Abrir llave 81"/>
          <p:cNvSpPr/>
          <p:nvPr/>
        </p:nvSpPr>
        <p:spPr>
          <a:xfrm>
            <a:off x="9362738" y="4575926"/>
            <a:ext cx="92287" cy="914400"/>
          </a:xfrm>
          <a:prstGeom prst="leftBrace">
            <a:avLst>
              <a:gd name="adj1" fmla="val 247706"/>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33" name="Abrir llave 32"/>
          <p:cNvSpPr/>
          <p:nvPr/>
        </p:nvSpPr>
        <p:spPr>
          <a:xfrm rot="10800000">
            <a:off x="147412" y="1276490"/>
            <a:ext cx="272315" cy="4899933"/>
          </a:xfrm>
          <a:prstGeom prst="leftBrace">
            <a:avLst>
              <a:gd name="adj1" fmla="val 218603"/>
              <a:gd name="adj2" fmla="val 51120"/>
            </a:avLst>
          </a:prstGeom>
          <a:ln w="28575">
            <a:solidFill>
              <a:srgbClr val="76A75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25" name="CuadroTexto 24"/>
          <p:cNvSpPr txBox="1"/>
          <p:nvPr/>
        </p:nvSpPr>
        <p:spPr>
          <a:xfrm>
            <a:off x="9572584" y="3196986"/>
            <a:ext cx="1774332" cy="1261884"/>
          </a:xfrm>
          <a:prstGeom prst="rect">
            <a:avLst/>
          </a:prstGeom>
          <a:noFill/>
        </p:spPr>
        <p:txBody>
          <a:bodyPr wrap="none" rtlCol="0">
            <a:spAutoFit/>
          </a:bodyPr>
          <a:lstStyle>
            <a:defPPr>
              <a:defRPr lang="es-PE"/>
            </a:defPPr>
            <a:lvl1pPr>
              <a:defRPr b="1">
                <a:solidFill>
                  <a:schemeClr val="accent6"/>
                </a:solidFill>
              </a:defRPr>
            </a:lvl1pPr>
          </a:lstStyle>
          <a:p>
            <a:pPr marL="342900" indent="-342900">
              <a:buFontTx/>
              <a:buChar char="-"/>
            </a:pPr>
            <a:r>
              <a:rPr lang="es-PE" sz="1900" dirty="0" smtClean="0">
                <a:solidFill>
                  <a:schemeClr val="accent1"/>
                </a:solidFill>
              </a:rPr>
              <a:t>COMPOSITE</a:t>
            </a:r>
          </a:p>
          <a:p>
            <a:pPr marL="342900" indent="-342900">
              <a:buFontTx/>
              <a:buChar char="-"/>
            </a:pPr>
            <a:r>
              <a:rPr lang="es-PE" sz="1900" dirty="0">
                <a:solidFill>
                  <a:schemeClr val="accent1"/>
                </a:solidFill>
              </a:rPr>
              <a:t>FACADE</a:t>
            </a:r>
          </a:p>
          <a:p>
            <a:pPr marL="342900" indent="-342900">
              <a:buFontTx/>
              <a:buChar char="-"/>
            </a:pPr>
            <a:r>
              <a:rPr lang="es-PE" sz="1900" dirty="0" smtClean="0">
                <a:solidFill>
                  <a:schemeClr val="accent1"/>
                </a:solidFill>
              </a:rPr>
              <a:t>ADAPTER</a:t>
            </a:r>
            <a:endParaRPr lang="es-PE" sz="1900" dirty="0" smtClean="0">
              <a:solidFill>
                <a:schemeClr val="accent1"/>
              </a:solidFill>
            </a:endParaRPr>
          </a:p>
          <a:p>
            <a:pPr marL="342900" indent="-342900">
              <a:buFontTx/>
              <a:buChar char="-"/>
            </a:pPr>
            <a:r>
              <a:rPr lang="es-PE" sz="1900" dirty="0" smtClean="0">
                <a:solidFill>
                  <a:schemeClr val="accent1"/>
                </a:solidFill>
              </a:rPr>
              <a:t>DECORATOR</a:t>
            </a:r>
          </a:p>
        </p:txBody>
      </p:sp>
      <p:sp>
        <p:nvSpPr>
          <p:cNvPr id="16" name="Abrir llave 15"/>
          <p:cNvSpPr/>
          <p:nvPr/>
        </p:nvSpPr>
        <p:spPr>
          <a:xfrm>
            <a:off x="9381787" y="2196682"/>
            <a:ext cx="92287" cy="914400"/>
          </a:xfrm>
          <a:prstGeom prst="leftBrace">
            <a:avLst>
              <a:gd name="adj1" fmla="val 247706"/>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Tree>
    <p:extLst>
      <p:ext uri="{BB962C8B-B14F-4D97-AF65-F5344CB8AC3E}">
        <p14:creationId xmlns:p14="http://schemas.microsoft.com/office/powerpoint/2010/main" val="21100906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10053"/>
            <a:ext cx="6121101" cy="548741"/>
          </a:xfrm>
        </p:spPr>
        <p:txBody>
          <a:bodyPr spcFirstLastPara="1" vert="horz" wrap="square" lIns="91425" tIns="91425" rIns="91425" bIns="91425" rtlCol="0" anchor="ctr" anchorCtr="0">
            <a:noAutofit/>
          </a:bodyPr>
          <a:lstStyle/>
          <a:p>
            <a:pPr algn="l"/>
            <a:r>
              <a:rPr lang="es-PE" sz="4400" b="1" dirty="0" smtClean="0">
                <a:solidFill>
                  <a:schemeClr val="accent1"/>
                </a:solidFill>
                <a:effectLst>
                  <a:outerShdw blurRad="38100" dist="38100" dir="2700000" algn="tl">
                    <a:srgbClr val="000000">
                      <a:alpha val="43137"/>
                    </a:srgbClr>
                  </a:outerShdw>
                </a:effectLst>
              </a:rPr>
              <a:t>Patrones estructurales</a:t>
            </a:r>
            <a:endParaRPr lang="es-PE" sz="44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484094" y="2032414"/>
            <a:ext cx="11504706" cy="40410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a:t>Los patrones estructurales tratan la </a:t>
            </a:r>
            <a:r>
              <a:rPr lang="es-PE" b="1" dirty="0">
                <a:solidFill>
                  <a:schemeClr val="accent5"/>
                </a:solidFill>
              </a:rPr>
              <a:t>composición</a:t>
            </a:r>
            <a:r>
              <a:rPr lang="es-PE" dirty="0"/>
              <a:t> de clases u </a:t>
            </a:r>
            <a:r>
              <a:rPr lang="es-PE" dirty="0" smtClean="0"/>
              <a:t>objetos.</a:t>
            </a:r>
          </a:p>
          <a:p>
            <a:r>
              <a:rPr lang="es-PE" dirty="0" smtClean="0"/>
              <a:t>Explican </a:t>
            </a:r>
            <a:r>
              <a:rPr lang="es-PE" dirty="0"/>
              <a:t>cómo </a:t>
            </a:r>
            <a:r>
              <a:rPr lang="es-PE" b="1" dirty="0">
                <a:solidFill>
                  <a:schemeClr val="accent5"/>
                </a:solidFill>
              </a:rPr>
              <a:t>ensamblar </a:t>
            </a:r>
            <a:r>
              <a:rPr lang="es-PE" b="1" dirty="0" smtClean="0">
                <a:solidFill>
                  <a:schemeClr val="accent5"/>
                </a:solidFill>
              </a:rPr>
              <a:t>objetos </a:t>
            </a:r>
            <a:r>
              <a:rPr lang="es-PE" b="1" dirty="0">
                <a:solidFill>
                  <a:schemeClr val="accent5"/>
                </a:solidFill>
              </a:rPr>
              <a:t>y clases </a:t>
            </a:r>
            <a:r>
              <a:rPr lang="es-PE" b="1" dirty="0" smtClean="0">
                <a:solidFill>
                  <a:schemeClr val="accent5"/>
                </a:solidFill>
              </a:rPr>
              <a:t>en estructuras más grandes</a:t>
            </a:r>
            <a:r>
              <a:rPr lang="es-PE" dirty="0" smtClean="0"/>
              <a:t>, a la vez que se mantiene la </a:t>
            </a:r>
            <a:r>
              <a:rPr lang="es-PE" b="1" dirty="0" smtClean="0"/>
              <a:t>flexibilidad</a:t>
            </a:r>
            <a:r>
              <a:rPr lang="es-PE" dirty="0" smtClean="0"/>
              <a:t> y </a:t>
            </a:r>
            <a:r>
              <a:rPr lang="es-PE" b="1" dirty="0" smtClean="0"/>
              <a:t>eficiencia</a:t>
            </a:r>
            <a:r>
              <a:rPr lang="es-PE" dirty="0" smtClean="0"/>
              <a:t> de estas estructuras</a:t>
            </a:r>
            <a:endParaRPr lang="es-PE" dirty="0"/>
          </a:p>
          <a:p>
            <a:r>
              <a:rPr lang="es-PE" dirty="0" smtClean="0"/>
              <a:t>Estos patrones me van a permitir representar grandes estructuras de datos, </a:t>
            </a:r>
            <a:r>
              <a:rPr lang="es-PE" b="1" dirty="0" smtClean="0"/>
              <a:t>facilitando </a:t>
            </a:r>
            <a:r>
              <a:rPr lang="es-PE" dirty="0" smtClean="0"/>
              <a:t>la </a:t>
            </a:r>
            <a:r>
              <a:rPr lang="es-PE" b="1" dirty="0" smtClean="0"/>
              <a:t>jerarquía </a:t>
            </a:r>
            <a:r>
              <a:rPr lang="es-PE" dirty="0" smtClean="0"/>
              <a:t>y el </a:t>
            </a:r>
            <a:r>
              <a:rPr lang="es-PE" b="1" dirty="0" smtClean="0"/>
              <a:t>comportamiento </a:t>
            </a:r>
            <a:r>
              <a:rPr lang="es-PE" dirty="0" smtClean="0"/>
              <a:t>en tiempo real para el manejo de composición de objetos.</a:t>
            </a:r>
            <a:endParaRPr lang="es-PE" sz="2200" dirty="0"/>
          </a:p>
        </p:txBody>
      </p:sp>
      <p:sp>
        <p:nvSpPr>
          <p:cNvPr id="7" name="Rectángulo 6"/>
          <p:cNvSpPr/>
          <p:nvPr/>
        </p:nvSpPr>
        <p:spPr>
          <a:xfrm>
            <a:off x="5808615" y="6501174"/>
            <a:ext cx="6196635" cy="244682"/>
          </a:xfrm>
          <a:prstGeom prst="rect">
            <a:avLst/>
          </a:prstGeom>
        </p:spPr>
        <p:txBody>
          <a:bodyPr wrap="square">
            <a:spAutoFit/>
          </a:bodyPr>
          <a:lstStyle/>
          <a:p>
            <a:pPr algn="just">
              <a:lnSpc>
                <a:spcPct val="90000"/>
              </a:lnSpc>
              <a:spcBef>
                <a:spcPts val="1000"/>
              </a:spcBef>
            </a:pPr>
            <a:r>
              <a:rPr lang="es-PE" sz="1100" i="1" dirty="0" smtClean="0">
                <a:solidFill>
                  <a:srgbClr val="222222"/>
                </a:solidFill>
              </a:rPr>
              <a:t>Fuente: De </a:t>
            </a:r>
            <a:r>
              <a:rPr lang="es-PE" sz="1100" i="1" dirty="0" err="1">
                <a:solidFill>
                  <a:srgbClr val="222222"/>
                </a:solidFill>
              </a:rPr>
              <a:t>Parga</a:t>
            </a:r>
            <a:r>
              <a:rPr lang="es-PE" sz="1100" i="1" dirty="0">
                <a:solidFill>
                  <a:srgbClr val="222222"/>
                </a:solidFill>
              </a:rPr>
              <a:t>, C. J. (2021). UML. Arquitectura de aplicaciones en Java, C++ y Python. Ra-</a:t>
            </a:r>
            <a:r>
              <a:rPr lang="es-PE" sz="1100" i="1" dirty="0" err="1">
                <a:solidFill>
                  <a:srgbClr val="222222"/>
                </a:solidFill>
              </a:rPr>
              <a:t>Ma</a:t>
            </a:r>
            <a:r>
              <a:rPr lang="es-PE" sz="1100" i="1" dirty="0">
                <a:solidFill>
                  <a:srgbClr val="222222"/>
                </a:solidFill>
              </a:rPr>
              <a:t> Editorial.</a:t>
            </a:r>
            <a:endParaRPr lang="es-PE" sz="1100" i="1" dirty="0"/>
          </a:p>
        </p:txBody>
      </p:sp>
      <p:sp>
        <p:nvSpPr>
          <p:cNvPr id="8" name="Rectángulo 7"/>
          <p:cNvSpPr/>
          <p:nvPr/>
        </p:nvSpPr>
        <p:spPr>
          <a:xfrm>
            <a:off x="205670" y="6484246"/>
            <a:ext cx="3754554" cy="261610"/>
          </a:xfrm>
          <a:prstGeom prst="rect">
            <a:avLst/>
          </a:prstGeom>
        </p:spPr>
        <p:txBody>
          <a:bodyPr wrap="none">
            <a:spAutoFit/>
          </a:bodyPr>
          <a:lstStyle/>
          <a:p>
            <a:r>
              <a:rPr lang="es-PE" sz="1100" i="1" dirty="0" smtClean="0"/>
              <a:t>Fuente: https</a:t>
            </a:r>
            <a:r>
              <a:rPr lang="es-PE" sz="1100" i="1" dirty="0"/>
              <a:t>://refactoring.guru/es/design-patterns/composite</a:t>
            </a:r>
          </a:p>
        </p:txBody>
      </p:sp>
    </p:spTree>
    <p:extLst>
      <p:ext uri="{BB962C8B-B14F-4D97-AF65-F5344CB8AC3E}">
        <p14:creationId xmlns:p14="http://schemas.microsoft.com/office/powerpoint/2010/main" val="6416115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01574"/>
            <a:ext cx="8490572"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COMPOSITE (objeto compuesto, </a:t>
            </a:r>
            <a:r>
              <a:rPr lang="es-PE" sz="3600" b="1" dirty="0" err="1" smtClean="0">
                <a:solidFill>
                  <a:schemeClr val="accent1"/>
                </a:solidFill>
                <a:effectLst>
                  <a:outerShdw blurRad="38100" dist="38100" dir="2700000" algn="tl">
                    <a:srgbClr val="000000">
                      <a:alpha val="43137"/>
                    </a:srgbClr>
                  </a:outerShdw>
                </a:effectLst>
              </a:rPr>
              <a:t>object</a:t>
            </a:r>
            <a:r>
              <a:rPr lang="es-PE" sz="3600" b="1" dirty="0" smtClean="0">
                <a:solidFill>
                  <a:schemeClr val="accent1"/>
                </a:solidFill>
                <a:effectLst>
                  <a:outerShdw blurRad="38100" dist="38100" dir="2700000" algn="tl">
                    <a:srgbClr val="000000">
                      <a:alpha val="43137"/>
                    </a:srgbClr>
                  </a:outerShdw>
                </a:effectLst>
              </a:rPr>
              <a:t> </a:t>
            </a:r>
            <a:r>
              <a:rPr lang="es-PE" sz="3600" b="1" dirty="0" err="1" smtClean="0">
                <a:solidFill>
                  <a:schemeClr val="accent1"/>
                </a:solidFill>
                <a:effectLst>
                  <a:outerShdw blurRad="38100" dist="38100" dir="2700000" algn="tl">
                    <a:srgbClr val="000000">
                      <a:alpha val="43137"/>
                    </a:srgbClr>
                  </a:outerShdw>
                </a:effectLst>
              </a:rPr>
              <a:t>tree</a:t>
            </a:r>
            <a:r>
              <a:rPr lang="es-PE" sz="3600" b="1" dirty="0" smtClean="0">
                <a:solidFill>
                  <a:schemeClr val="accent1"/>
                </a:solidFill>
                <a:effectLst>
                  <a:outerShdw blurRad="38100" dist="38100" dir="2700000" algn="tl">
                    <a:srgbClr val="000000">
                      <a:alpha val="43137"/>
                    </a:srgbClr>
                  </a:outerShdw>
                </a:effectLst>
              </a:rPr>
              <a:t>)</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347240" y="1895470"/>
            <a:ext cx="8627426" cy="11909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Este patrón permite </a:t>
            </a:r>
            <a:r>
              <a:rPr lang="es-PE" b="1" dirty="0">
                <a:solidFill>
                  <a:schemeClr val="accent5"/>
                </a:solidFill>
              </a:rPr>
              <a:t>componer</a:t>
            </a:r>
            <a:r>
              <a:rPr lang="es-PE" dirty="0"/>
              <a:t> objetos en </a:t>
            </a:r>
            <a:r>
              <a:rPr lang="es-PE" b="1" dirty="0">
                <a:solidFill>
                  <a:schemeClr val="accent5"/>
                </a:solidFill>
              </a:rPr>
              <a:t>estructuras de árbol </a:t>
            </a:r>
            <a:r>
              <a:rPr lang="es-PE" dirty="0"/>
              <a:t>y trabajar con esas estructuras como si fueran objetos individuales</a:t>
            </a:r>
            <a:r>
              <a:rPr lang="es-PE" dirty="0" smtClean="0"/>
              <a:t>.</a:t>
            </a:r>
          </a:p>
        </p:txBody>
      </p:sp>
      <p:sp>
        <p:nvSpPr>
          <p:cNvPr id="7" name="2 Marcador de contenido"/>
          <p:cNvSpPr txBox="1">
            <a:spLocks/>
          </p:cNvSpPr>
          <p:nvPr/>
        </p:nvSpPr>
        <p:spPr>
          <a:xfrm>
            <a:off x="4526844" y="3309695"/>
            <a:ext cx="7349066" cy="29895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sz="2400" dirty="0"/>
              <a:t>Se trabaja con </a:t>
            </a:r>
            <a:r>
              <a:rPr lang="es-PE" sz="2400" dirty="0" smtClean="0"/>
              <a:t>éste patrón cuando el modelo de la aplicación </a:t>
            </a:r>
            <a:r>
              <a:rPr lang="es-PE" sz="2400" dirty="0"/>
              <a:t>puede representarse en forma de árbol</a:t>
            </a:r>
            <a:r>
              <a:rPr lang="es-PE" sz="2400" dirty="0" smtClean="0"/>
              <a:t>.</a:t>
            </a:r>
          </a:p>
          <a:p>
            <a:r>
              <a:rPr lang="es-PE" sz="2400" dirty="0" smtClean="0"/>
              <a:t>Piensen en una “Caja” llena de “Productos” o de otras cajas que contienen otros productos. </a:t>
            </a:r>
            <a:r>
              <a:rPr lang="es-PE" sz="2400" b="1" dirty="0" smtClean="0"/>
              <a:t>¿Cómo determinamos el valor total de una caja?</a:t>
            </a:r>
            <a:r>
              <a:rPr lang="es-PE" sz="2400" b="1" dirty="0"/>
              <a:t/>
            </a:r>
            <a:br>
              <a:rPr lang="es-PE" sz="2400" b="1" dirty="0"/>
            </a:br>
            <a:r>
              <a:rPr lang="es-PE" sz="2400" dirty="0" smtClean="0"/>
              <a:t>En el mundo real abriríamos todas las cajas y hacemos el cálculo, pero debemos tomar en cuenta que en un programa no es tan sencillo como ejecutar un bucle.</a:t>
            </a:r>
          </a:p>
        </p:txBody>
      </p:sp>
      <p:pic>
        <p:nvPicPr>
          <p:cNvPr id="3" name="Imagen 2"/>
          <p:cNvPicPr>
            <a:picLocks noChangeAspect="1"/>
          </p:cNvPicPr>
          <p:nvPr/>
        </p:nvPicPr>
        <p:blipFill>
          <a:blip r:embed="rId3"/>
          <a:stretch>
            <a:fillRect/>
          </a:stretch>
        </p:blipFill>
        <p:spPr>
          <a:xfrm>
            <a:off x="9685867" y="1144568"/>
            <a:ext cx="2356819" cy="1321581"/>
          </a:xfrm>
          <a:prstGeom prst="rect">
            <a:avLst/>
          </a:prstGeom>
        </p:spPr>
      </p:pic>
      <p:pic>
        <p:nvPicPr>
          <p:cNvPr id="2" name="Imagen 1"/>
          <p:cNvPicPr>
            <a:picLocks noChangeAspect="1"/>
          </p:cNvPicPr>
          <p:nvPr/>
        </p:nvPicPr>
        <p:blipFill>
          <a:blip r:embed="rId4"/>
          <a:stretch>
            <a:fillRect/>
          </a:stretch>
        </p:blipFill>
        <p:spPr>
          <a:xfrm>
            <a:off x="1038577" y="3250682"/>
            <a:ext cx="3059289" cy="3048518"/>
          </a:xfrm>
          <a:prstGeom prst="rect">
            <a:avLst/>
          </a:prstGeom>
        </p:spPr>
      </p:pic>
      <p:sp>
        <p:nvSpPr>
          <p:cNvPr id="8" name="Rectángulo 7"/>
          <p:cNvSpPr/>
          <p:nvPr/>
        </p:nvSpPr>
        <p:spPr>
          <a:xfrm>
            <a:off x="205670" y="6484246"/>
            <a:ext cx="3754554" cy="261610"/>
          </a:xfrm>
          <a:prstGeom prst="rect">
            <a:avLst/>
          </a:prstGeom>
        </p:spPr>
        <p:txBody>
          <a:bodyPr wrap="none">
            <a:spAutoFit/>
          </a:bodyPr>
          <a:lstStyle/>
          <a:p>
            <a:r>
              <a:rPr lang="es-PE" sz="1100" i="1" dirty="0" smtClean="0"/>
              <a:t>Fuente: https</a:t>
            </a:r>
            <a:r>
              <a:rPr lang="es-PE" sz="1100" i="1" dirty="0"/>
              <a:t>://refactoring.guru/es/design-patterns/composite</a:t>
            </a:r>
          </a:p>
        </p:txBody>
      </p:sp>
    </p:spTree>
    <p:extLst>
      <p:ext uri="{BB962C8B-B14F-4D97-AF65-F5344CB8AC3E}">
        <p14:creationId xmlns:p14="http://schemas.microsoft.com/office/powerpoint/2010/main" val="40082413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01574"/>
            <a:ext cx="7801950"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Solución COMPOSITE</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374216" y="2119759"/>
            <a:ext cx="7172015" cy="402186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Sugiere que por medio de una </a:t>
            </a:r>
            <a:r>
              <a:rPr lang="es-PE" b="1" dirty="0" smtClean="0"/>
              <a:t>interfaz</a:t>
            </a:r>
            <a:r>
              <a:rPr lang="es-PE" dirty="0" smtClean="0"/>
              <a:t> común con un </a:t>
            </a:r>
            <a:r>
              <a:rPr lang="es-PE" b="1" dirty="0" smtClean="0"/>
              <a:t>método “calcular” </a:t>
            </a:r>
            <a:r>
              <a:rPr lang="es-PE" dirty="0" smtClean="0"/>
              <a:t>definamos el precio total. </a:t>
            </a:r>
            <a:r>
              <a:rPr lang="es-PE" i="1" dirty="0" smtClean="0"/>
              <a:t>Si encontramos un producto enviamos el precio y si es una caja, entonces repasamos lo que contenga, pidiendo su precio y así sucesivamente.</a:t>
            </a:r>
          </a:p>
          <a:p>
            <a:r>
              <a:rPr lang="es-PE" dirty="0" smtClean="0"/>
              <a:t>El patrón me permite </a:t>
            </a:r>
            <a:r>
              <a:rPr lang="es-PE" b="1" dirty="0" smtClean="0">
                <a:solidFill>
                  <a:schemeClr val="accent5"/>
                </a:solidFill>
              </a:rPr>
              <a:t>ejecutar</a:t>
            </a:r>
            <a:r>
              <a:rPr lang="es-PE" dirty="0" smtClean="0"/>
              <a:t> un </a:t>
            </a:r>
            <a:r>
              <a:rPr lang="es-PE" b="1" dirty="0" smtClean="0"/>
              <a:t>comportamiento</a:t>
            </a:r>
            <a:r>
              <a:rPr lang="es-PE" dirty="0" smtClean="0"/>
              <a:t> de </a:t>
            </a:r>
            <a:r>
              <a:rPr lang="es-PE" b="1" dirty="0" smtClean="0">
                <a:solidFill>
                  <a:schemeClr val="accent5"/>
                </a:solidFill>
              </a:rPr>
              <a:t>forma recursiva </a:t>
            </a:r>
            <a:r>
              <a:rPr lang="es-PE" dirty="0" smtClean="0"/>
              <a:t>sobre todos los componentes de un árbol.</a:t>
            </a:r>
          </a:p>
        </p:txBody>
      </p:sp>
      <p:pic>
        <p:nvPicPr>
          <p:cNvPr id="7" name="Imagen 6"/>
          <p:cNvPicPr>
            <a:picLocks noChangeAspect="1"/>
          </p:cNvPicPr>
          <p:nvPr/>
        </p:nvPicPr>
        <p:blipFill>
          <a:blip r:embed="rId3"/>
          <a:stretch>
            <a:fillRect/>
          </a:stretch>
        </p:blipFill>
        <p:spPr>
          <a:xfrm>
            <a:off x="7923472" y="2119759"/>
            <a:ext cx="3625062" cy="3547011"/>
          </a:xfrm>
          <a:prstGeom prst="rect">
            <a:avLst/>
          </a:prstGeom>
        </p:spPr>
      </p:pic>
      <p:sp>
        <p:nvSpPr>
          <p:cNvPr id="9" name="Rectángulo 8"/>
          <p:cNvSpPr/>
          <p:nvPr/>
        </p:nvSpPr>
        <p:spPr>
          <a:xfrm>
            <a:off x="205670" y="6484246"/>
            <a:ext cx="3754554" cy="261610"/>
          </a:xfrm>
          <a:prstGeom prst="rect">
            <a:avLst/>
          </a:prstGeom>
        </p:spPr>
        <p:txBody>
          <a:bodyPr wrap="none">
            <a:spAutoFit/>
          </a:bodyPr>
          <a:lstStyle/>
          <a:p>
            <a:r>
              <a:rPr lang="es-PE" sz="1100" i="1" dirty="0" smtClean="0"/>
              <a:t>Fuente: https</a:t>
            </a:r>
            <a:r>
              <a:rPr lang="es-PE" sz="1100" i="1" dirty="0"/>
              <a:t>://refactoring.guru/es/design-patterns/composite</a:t>
            </a:r>
          </a:p>
        </p:txBody>
      </p:sp>
    </p:spTree>
    <p:extLst>
      <p:ext uri="{BB962C8B-B14F-4D97-AF65-F5344CB8AC3E}">
        <p14:creationId xmlns:p14="http://schemas.microsoft.com/office/powerpoint/2010/main" val="12737481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84788" y="1603502"/>
            <a:ext cx="4292301"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Participantes</a:t>
            </a:r>
            <a:endParaRPr lang="es-PE" sz="3600" b="1" dirty="0">
              <a:solidFill>
                <a:schemeClr val="accent1"/>
              </a:solidFill>
              <a:effectLst>
                <a:outerShdw blurRad="38100" dist="38100" dir="2700000" algn="tl">
                  <a:srgbClr val="000000">
                    <a:alpha val="43137"/>
                  </a:srgbClr>
                </a:outerShdw>
              </a:effectLst>
            </a:endParaRPr>
          </a:p>
        </p:txBody>
      </p:sp>
      <p:sp>
        <p:nvSpPr>
          <p:cNvPr id="3" name="Rectángulo 2"/>
          <p:cNvSpPr/>
          <p:nvPr/>
        </p:nvSpPr>
        <p:spPr>
          <a:xfrm>
            <a:off x="599276" y="2291731"/>
            <a:ext cx="10949257" cy="3985706"/>
          </a:xfrm>
          <a:prstGeom prst="rect">
            <a:avLst/>
          </a:prstGeom>
        </p:spPr>
        <p:txBody>
          <a:bodyPr wrap="square">
            <a:spAutoFit/>
          </a:bodyPr>
          <a:lstStyle/>
          <a:p>
            <a:pPr marL="342900" indent="-342900">
              <a:buFont typeface="Arial" panose="020B0604020202020204" pitchFamily="34" charset="0"/>
              <a:buChar char="•"/>
            </a:pPr>
            <a:r>
              <a:rPr lang="es-PE" sz="2300" b="1" i="1" dirty="0" err="1" smtClean="0"/>
              <a:t>Component</a:t>
            </a:r>
            <a:r>
              <a:rPr lang="es-PE" sz="2300" dirty="0" smtClean="0"/>
              <a:t>: Clase base que define la </a:t>
            </a:r>
            <a:r>
              <a:rPr lang="es-PE" sz="2300" b="1" dirty="0" smtClean="0"/>
              <a:t>interfaz</a:t>
            </a:r>
            <a:r>
              <a:rPr lang="es-PE" sz="2300" dirty="0" smtClean="0"/>
              <a:t> del </a:t>
            </a:r>
            <a:r>
              <a:rPr lang="es-PE" sz="2300" dirty="0" err="1" smtClean="0"/>
              <a:t>Composite</a:t>
            </a:r>
            <a:r>
              <a:rPr lang="es-PE" sz="2300" dirty="0" smtClean="0"/>
              <a:t> y gestiona a sus hijos. </a:t>
            </a:r>
            <a:r>
              <a:rPr lang="es-PE" sz="2300" b="1" dirty="0" smtClean="0"/>
              <a:t>Describe operaciones</a:t>
            </a:r>
            <a:r>
              <a:rPr lang="es-PE" sz="2300" dirty="0" smtClean="0"/>
              <a:t> que son </a:t>
            </a:r>
            <a:r>
              <a:rPr lang="es-PE" sz="2300" b="1" dirty="0" smtClean="0"/>
              <a:t>comunes</a:t>
            </a:r>
            <a:r>
              <a:rPr lang="es-PE" sz="2300" dirty="0" smtClean="0"/>
              <a:t> a los elementos del árbol (</a:t>
            </a:r>
            <a:r>
              <a:rPr lang="es-PE" sz="2300" b="1" dirty="0" smtClean="0"/>
              <a:t>hijos</a:t>
            </a:r>
            <a:r>
              <a:rPr lang="es-PE" sz="2300" dirty="0" smtClean="0"/>
              <a:t>).</a:t>
            </a:r>
          </a:p>
          <a:p>
            <a:pPr marL="342900" indent="-342900">
              <a:buFont typeface="Arial" panose="020B0604020202020204" pitchFamily="34" charset="0"/>
              <a:buChar char="•"/>
            </a:pPr>
            <a:r>
              <a:rPr lang="es-PE" sz="2300" b="1" i="1" dirty="0" err="1" smtClean="0"/>
              <a:t>Leaf</a:t>
            </a:r>
            <a:r>
              <a:rPr lang="es-PE" sz="2300" dirty="0" smtClean="0"/>
              <a:t>: Elemento básico del árbol que </a:t>
            </a:r>
            <a:r>
              <a:rPr lang="es-PE" sz="2300" b="1" dirty="0" smtClean="0"/>
              <a:t>no tiene subelementos</a:t>
            </a:r>
            <a:r>
              <a:rPr lang="es-PE" sz="2300" dirty="0" smtClean="0"/>
              <a:t>. Implementa las operaciones de la superclase.</a:t>
            </a:r>
            <a:endParaRPr lang="es-PE" sz="2300" b="1" i="1" dirty="0" smtClean="0"/>
          </a:p>
          <a:p>
            <a:pPr marL="342900" indent="-342900">
              <a:buFont typeface="Arial" panose="020B0604020202020204" pitchFamily="34" charset="0"/>
              <a:buChar char="•"/>
            </a:pPr>
            <a:r>
              <a:rPr lang="es-PE" sz="2300" b="1" i="1" dirty="0" err="1" smtClean="0"/>
              <a:t>Composite</a:t>
            </a:r>
            <a:r>
              <a:rPr lang="es-PE" sz="2300" dirty="0" smtClean="0"/>
              <a:t>: o Contenedor, es quien </a:t>
            </a:r>
            <a:r>
              <a:rPr lang="es-PE" sz="2300" b="1" dirty="0" smtClean="0"/>
              <a:t>tiene los subelementos </a:t>
            </a:r>
            <a:r>
              <a:rPr lang="es-PE" sz="2300" dirty="0" smtClean="0"/>
              <a:t>(hojas u otros contenedores). Éste no conoce directamente a sus hijos sino por la interfaz </a:t>
            </a:r>
            <a:r>
              <a:rPr lang="es-PE" sz="2300" dirty="0" err="1" smtClean="0"/>
              <a:t>Component</a:t>
            </a:r>
            <a:r>
              <a:rPr lang="es-PE" sz="2300" dirty="0" smtClean="0"/>
              <a:t>. Cuando recibimos una solicitud el </a:t>
            </a:r>
            <a:r>
              <a:rPr lang="es-PE" sz="2300" dirty="0" err="1" smtClean="0"/>
              <a:t>composite</a:t>
            </a:r>
            <a:r>
              <a:rPr lang="es-PE" sz="2300" dirty="0" smtClean="0"/>
              <a:t> </a:t>
            </a:r>
            <a:r>
              <a:rPr lang="es-PE" sz="2300" i="1" dirty="0" smtClean="0"/>
              <a:t>delega el trabajo a subelementos</a:t>
            </a:r>
            <a:r>
              <a:rPr lang="es-PE" sz="2300" dirty="0" smtClean="0"/>
              <a:t>, </a:t>
            </a:r>
            <a:r>
              <a:rPr lang="es-PE" sz="2300" i="1" dirty="0" smtClean="0"/>
              <a:t>procesa los resultados y devuelve el resultado final.</a:t>
            </a:r>
          </a:p>
          <a:p>
            <a:pPr marL="342900" indent="-342900">
              <a:buFont typeface="Arial" panose="020B0604020202020204" pitchFamily="34" charset="0"/>
              <a:buChar char="•"/>
            </a:pPr>
            <a:r>
              <a:rPr lang="es-PE" sz="2300" b="1" i="1" dirty="0" smtClean="0"/>
              <a:t>Cliente</a:t>
            </a:r>
            <a:r>
              <a:rPr lang="es-PE" sz="2300" b="1" i="1" dirty="0"/>
              <a:t>: </a:t>
            </a:r>
            <a:r>
              <a:rPr lang="es-PE" sz="2300" dirty="0" smtClean="0"/>
              <a:t>Se vincula con todos a través de </a:t>
            </a:r>
            <a:r>
              <a:rPr lang="es-PE" sz="2300" dirty="0" err="1" smtClean="0"/>
              <a:t>component</a:t>
            </a:r>
            <a:r>
              <a:rPr lang="es-PE" sz="2300" dirty="0" smtClean="0"/>
              <a:t>. Funciona tanto con elementos simples como complejos del árbol.</a:t>
            </a:r>
            <a:endParaRPr lang="es-PE" sz="2300" dirty="0"/>
          </a:p>
          <a:p>
            <a:pPr marL="342900" indent="-342900">
              <a:buFont typeface="Arial" panose="020B0604020202020204" pitchFamily="34" charset="0"/>
              <a:buChar char="•"/>
            </a:pPr>
            <a:endParaRPr lang="es-PE" sz="2300" dirty="0"/>
          </a:p>
        </p:txBody>
      </p:sp>
      <p:sp>
        <p:nvSpPr>
          <p:cNvPr id="5" name="Rectángulo 4"/>
          <p:cNvSpPr/>
          <p:nvPr/>
        </p:nvSpPr>
        <p:spPr>
          <a:xfrm>
            <a:off x="5808615" y="6501174"/>
            <a:ext cx="6196635" cy="244682"/>
          </a:xfrm>
          <a:prstGeom prst="rect">
            <a:avLst/>
          </a:prstGeom>
        </p:spPr>
        <p:txBody>
          <a:bodyPr wrap="square">
            <a:spAutoFit/>
          </a:bodyPr>
          <a:lstStyle/>
          <a:p>
            <a:pPr algn="just">
              <a:lnSpc>
                <a:spcPct val="90000"/>
              </a:lnSpc>
              <a:spcBef>
                <a:spcPts val="1000"/>
              </a:spcBef>
            </a:pPr>
            <a:r>
              <a:rPr lang="es-PE" sz="1100" i="1" dirty="0" smtClean="0">
                <a:solidFill>
                  <a:srgbClr val="222222"/>
                </a:solidFill>
              </a:rPr>
              <a:t>Fuente: De </a:t>
            </a:r>
            <a:r>
              <a:rPr lang="es-PE" sz="1100" i="1" dirty="0" err="1">
                <a:solidFill>
                  <a:srgbClr val="222222"/>
                </a:solidFill>
              </a:rPr>
              <a:t>Parga</a:t>
            </a:r>
            <a:r>
              <a:rPr lang="es-PE" sz="1100" i="1" dirty="0">
                <a:solidFill>
                  <a:srgbClr val="222222"/>
                </a:solidFill>
              </a:rPr>
              <a:t>, C. J. (2021). UML. Arquitectura de aplicaciones en Java, C++ y Python. Ra-</a:t>
            </a:r>
            <a:r>
              <a:rPr lang="es-PE" sz="1100" i="1" dirty="0" err="1">
                <a:solidFill>
                  <a:srgbClr val="222222"/>
                </a:solidFill>
              </a:rPr>
              <a:t>Ma</a:t>
            </a:r>
            <a:r>
              <a:rPr lang="es-PE" sz="1100" i="1" dirty="0">
                <a:solidFill>
                  <a:srgbClr val="222222"/>
                </a:solidFill>
              </a:rPr>
              <a:t> Editorial.</a:t>
            </a:r>
            <a:endParaRPr lang="es-PE" sz="1100" i="1" dirty="0"/>
          </a:p>
        </p:txBody>
      </p:sp>
      <p:sp>
        <p:nvSpPr>
          <p:cNvPr id="6" name="Rectángulo 5"/>
          <p:cNvSpPr/>
          <p:nvPr/>
        </p:nvSpPr>
        <p:spPr>
          <a:xfrm>
            <a:off x="205670" y="6484246"/>
            <a:ext cx="3754554" cy="261610"/>
          </a:xfrm>
          <a:prstGeom prst="rect">
            <a:avLst/>
          </a:prstGeom>
        </p:spPr>
        <p:txBody>
          <a:bodyPr wrap="none">
            <a:spAutoFit/>
          </a:bodyPr>
          <a:lstStyle/>
          <a:p>
            <a:r>
              <a:rPr lang="es-PE" sz="1100" i="1" dirty="0" smtClean="0"/>
              <a:t>Fuente: https</a:t>
            </a:r>
            <a:r>
              <a:rPr lang="es-PE" sz="1100" i="1" dirty="0"/>
              <a:t>://refactoring.guru/es/design-patterns/composite</a:t>
            </a:r>
          </a:p>
        </p:txBody>
      </p:sp>
    </p:spTree>
    <p:extLst>
      <p:ext uri="{BB962C8B-B14F-4D97-AF65-F5344CB8AC3E}">
        <p14:creationId xmlns:p14="http://schemas.microsoft.com/office/powerpoint/2010/main" val="6631368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42723" y="2563057"/>
            <a:ext cx="2547233" cy="1602543"/>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Ejemplo </a:t>
            </a:r>
            <a:br>
              <a:rPr lang="es-PE" sz="3600" b="1" dirty="0" smtClean="0">
                <a:solidFill>
                  <a:schemeClr val="accent1"/>
                </a:solidFill>
                <a:effectLst>
                  <a:outerShdw blurRad="38100" dist="38100" dir="2700000" algn="tl">
                    <a:srgbClr val="000000">
                      <a:alpha val="43137"/>
                    </a:srgbClr>
                  </a:outerShdw>
                </a:effectLst>
              </a:rPr>
            </a:br>
            <a:r>
              <a:rPr lang="es-PE" sz="3600" b="1" dirty="0" smtClean="0">
                <a:solidFill>
                  <a:schemeClr val="accent1"/>
                </a:solidFill>
                <a:effectLst>
                  <a:outerShdw blurRad="38100" dist="38100" dir="2700000" algn="tl">
                    <a:srgbClr val="000000">
                      <a:alpha val="43137"/>
                    </a:srgbClr>
                  </a:outerShdw>
                </a:effectLst>
              </a:rPr>
              <a:t>de patrón COMPOSITE</a:t>
            </a:r>
            <a:endParaRPr lang="es-PE" sz="3600" b="1" dirty="0">
              <a:solidFill>
                <a:schemeClr val="accent1"/>
              </a:solidFill>
              <a:effectLst>
                <a:outerShdw blurRad="38100" dist="38100" dir="2700000" algn="tl">
                  <a:srgbClr val="000000">
                    <a:alpha val="43137"/>
                  </a:srgbClr>
                </a:outerShdw>
              </a:effectLst>
            </a:endParaRPr>
          </a:p>
        </p:txBody>
      </p:sp>
      <p:sp>
        <p:nvSpPr>
          <p:cNvPr id="8" name="Rectángulo 7"/>
          <p:cNvSpPr/>
          <p:nvPr/>
        </p:nvSpPr>
        <p:spPr>
          <a:xfrm>
            <a:off x="205670" y="6484246"/>
            <a:ext cx="3558988" cy="261610"/>
          </a:xfrm>
          <a:prstGeom prst="rect">
            <a:avLst/>
          </a:prstGeom>
        </p:spPr>
        <p:txBody>
          <a:bodyPr wrap="none">
            <a:spAutoFit/>
          </a:bodyPr>
          <a:lstStyle/>
          <a:p>
            <a:r>
              <a:rPr lang="es-PE" sz="1100" i="1" dirty="0" smtClean="0"/>
              <a:t>Fuente: https</a:t>
            </a:r>
            <a:r>
              <a:rPr lang="es-PE" sz="1100" i="1" dirty="0"/>
              <a:t>://refactoring.guru/es/design-patterns/builder</a:t>
            </a:r>
          </a:p>
        </p:txBody>
      </p:sp>
      <p:pic>
        <p:nvPicPr>
          <p:cNvPr id="2" name="Imagen 1"/>
          <p:cNvPicPr>
            <a:picLocks noChangeAspect="1"/>
          </p:cNvPicPr>
          <p:nvPr/>
        </p:nvPicPr>
        <p:blipFill>
          <a:blip r:embed="rId3"/>
          <a:stretch>
            <a:fillRect/>
          </a:stretch>
        </p:blipFill>
        <p:spPr>
          <a:xfrm>
            <a:off x="4232099" y="1177532"/>
            <a:ext cx="4189413" cy="5105087"/>
          </a:xfrm>
          <a:prstGeom prst="rect">
            <a:avLst/>
          </a:prstGeom>
        </p:spPr>
      </p:pic>
    </p:spTree>
    <p:extLst>
      <p:ext uri="{BB962C8B-B14F-4D97-AF65-F5344CB8AC3E}">
        <p14:creationId xmlns:p14="http://schemas.microsoft.com/office/powerpoint/2010/main" val="11821614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452521" y="1366436"/>
            <a:ext cx="4292301"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Ventajas</a:t>
            </a:r>
            <a:endParaRPr lang="es-PE" sz="3600" b="1" dirty="0">
              <a:solidFill>
                <a:schemeClr val="accent1"/>
              </a:solidFill>
              <a:effectLst>
                <a:outerShdw blurRad="38100" dist="38100" dir="2700000" algn="tl">
                  <a:srgbClr val="000000">
                    <a:alpha val="43137"/>
                  </a:srgbClr>
                </a:outerShdw>
              </a:effectLst>
            </a:endParaRPr>
          </a:p>
        </p:txBody>
      </p:sp>
      <p:sp>
        <p:nvSpPr>
          <p:cNvPr id="3" name="Rectángulo 2"/>
          <p:cNvSpPr/>
          <p:nvPr/>
        </p:nvSpPr>
        <p:spPr>
          <a:xfrm>
            <a:off x="531543" y="2061932"/>
            <a:ext cx="10836368" cy="2123658"/>
          </a:xfrm>
          <a:prstGeom prst="rect">
            <a:avLst/>
          </a:prstGeom>
        </p:spPr>
        <p:txBody>
          <a:bodyPr wrap="square">
            <a:spAutoFit/>
          </a:bodyPr>
          <a:lstStyle/>
          <a:p>
            <a:pPr marL="342900" indent="-342900">
              <a:buFont typeface="Arial" panose="020B0604020202020204" pitchFamily="34" charset="0"/>
              <a:buChar char="•"/>
            </a:pPr>
            <a:r>
              <a:rPr lang="es-PE" sz="2200" dirty="0" smtClean="0"/>
              <a:t>Me sirve cuando necesitemos </a:t>
            </a:r>
            <a:r>
              <a:rPr lang="es-PE" sz="2200" b="1" dirty="0" smtClean="0">
                <a:solidFill>
                  <a:schemeClr val="accent5"/>
                </a:solidFill>
              </a:rPr>
              <a:t>implementar estructuras de datos recursivas </a:t>
            </a:r>
            <a:r>
              <a:rPr lang="es-PE" sz="2200" dirty="0" smtClean="0"/>
              <a:t>(árboles, grafos, etc.) y me permite definir relaciones de jerarquía donde todos los objetos son </a:t>
            </a:r>
            <a:r>
              <a:rPr lang="es-PE" sz="2200" b="1" dirty="0" smtClean="0">
                <a:solidFill>
                  <a:schemeClr val="accent5"/>
                </a:solidFill>
              </a:rPr>
              <a:t>tratados por igual</a:t>
            </a:r>
            <a:r>
              <a:rPr lang="es-PE" sz="2200" dirty="0" smtClean="0"/>
              <a:t>.</a:t>
            </a:r>
          </a:p>
          <a:p>
            <a:pPr marL="342900" indent="-342900">
              <a:buFont typeface="Arial" panose="020B0604020202020204" pitchFamily="34" charset="0"/>
              <a:buChar char="•"/>
            </a:pPr>
            <a:r>
              <a:rPr lang="es-PE" sz="2200" dirty="0" smtClean="0"/>
              <a:t>Utiliza el </a:t>
            </a:r>
            <a:r>
              <a:rPr lang="es-PE" sz="2200" b="1" dirty="0" smtClean="0"/>
              <a:t>polimorfismo </a:t>
            </a:r>
            <a:r>
              <a:rPr lang="es-PE" sz="2200" dirty="0" smtClean="0"/>
              <a:t>y la </a:t>
            </a:r>
            <a:r>
              <a:rPr lang="es-PE" sz="2200" b="1" dirty="0" smtClean="0"/>
              <a:t>recursión</a:t>
            </a:r>
            <a:r>
              <a:rPr lang="es-PE" sz="2200" dirty="0" smtClean="0"/>
              <a:t>.</a:t>
            </a:r>
          </a:p>
          <a:p>
            <a:pPr marL="342900" indent="-342900">
              <a:buFont typeface="Arial" panose="020B0604020202020204" pitchFamily="34" charset="0"/>
              <a:buChar char="•"/>
            </a:pPr>
            <a:r>
              <a:rPr lang="es-PE" sz="2200" dirty="0" smtClean="0"/>
              <a:t>Se puede introducir nuevos tipos de elementos </a:t>
            </a:r>
            <a:r>
              <a:rPr lang="es-PE" sz="2200" b="1" dirty="0" smtClean="0"/>
              <a:t>sin descomponer </a:t>
            </a:r>
            <a:r>
              <a:rPr lang="es-PE" sz="2200" dirty="0" smtClean="0"/>
              <a:t>el código existente.</a:t>
            </a:r>
          </a:p>
          <a:p>
            <a:r>
              <a:rPr lang="es-PE" sz="2200" i="1" dirty="0" smtClean="0"/>
              <a:t>*Tener especial cuidado para clases cuya funcionalidad difiera demasiado.</a:t>
            </a:r>
          </a:p>
        </p:txBody>
      </p:sp>
      <p:sp>
        <p:nvSpPr>
          <p:cNvPr id="6" name="Rectángulo 5"/>
          <p:cNvSpPr/>
          <p:nvPr/>
        </p:nvSpPr>
        <p:spPr>
          <a:xfrm>
            <a:off x="5808615" y="6501174"/>
            <a:ext cx="6196635" cy="244682"/>
          </a:xfrm>
          <a:prstGeom prst="rect">
            <a:avLst/>
          </a:prstGeom>
        </p:spPr>
        <p:txBody>
          <a:bodyPr wrap="square">
            <a:spAutoFit/>
          </a:bodyPr>
          <a:lstStyle/>
          <a:p>
            <a:pPr algn="just">
              <a:lnSpc>
                <a:spcPct val="90000"/>
              </a:lnSpc>
              <a:spcBef>
                <a:spcPts val="1000"/>
              </a:spcBef>
            </a:pPr>
            <a:r>
              <a:rPr lang="es-PE" sz="1100" i="1" dirty="0" smtClean="0">
                <a:solidFill>
                  <a:srgbClr val="222222"/>
                </a:solidFill>
              </a:rPr>
              <a:t>Fuente: De </a:t>
            </a:r>
            <a:r>
              <a:rPr lang="es-PE" sz="1100" i="1" dirty="0" err="1">
                <a:solidFill>
                  <a:srgbClr val="222222"/>
                </a:solidFill>
              </a:rPr>
              <a:t>Parga</a:t>
            </a:r>
            <a:r>
              <a:rPr lang="es-PE" sz="1100" i="1" dirty="0">
                <a:solidFill>
                  <a:srgbClr val="222222"/>
                </a:solidFill>
              </a:rPr>
              <a:t>, C. J. (2021). UML. Arquitectura de aplicaciones en Java, C++ y Python. Ra-</a:t>
            </a:r>
            <a:r>
              <a:rPr lang="es-PE" sz="1100" i="1" dirty="0" err="1">
                <a:solidFill>
                  <a:srgbClr val="222222"/>
                </a:solidFill>
              </a:rPr>
              <a:t>Ma</a:t>
            </a:r>
            <a:r>
              <a:rPr lang="es-PE" sz="1100" i="1" dirty="0">
                <a:solidFill>
                  <a:srgbClr val="222222"/>
                </a:solidFill>
              </a:rPr>
              <a:t> Editorial.</a:t>
            </a:r>
            <a:endParaRPr lang="es-PE" sz="1100" i="1" dirty="0"/>
          </a:p>
        </p:txBody>
      </p:sp>
      <p:sp>
        <p:nvSpPr>
          <p:cNvPr id="8" name="Rectángulo 7"/>
          <p:cNvSpPr/>
          <p:nvPr/>
        </p:nvSpPr>
        <p:spPr>
          <a:xfrm>
            <a:off x="205670" y="6484246"/>
            <a:ext cx="3754554" cy="261610"/>
          </a:xfrm>
          <a:prstGeom prst="rect">
            <a:avLst/>
          </a:prstGeom>
        </p:spPr>
        <p:txBody>
          <a:bodyPr wrap="none">
            <a:spAutoFit/>
          </a:bodyPr>
          <a:lstStyle/>
          <a:p>
            <a:r>
              <a:rPr lang="es-PE" sz="1100" i="1" dirty="0" smtClean="0"/>
              <a:t>Fuente: https</a:t>
            </a:r>
            <a:r>
              <a:rPr lang="es-PE" sz="1100" i="1" dirty="0"/>
              <a:t>://refactoring.guru/es/design-patterns/composite</a:t>
            </a:r>
          </a:p>
        </p:txBody>
      </p:sp>
    </p:spTree>
    <p:extLst>
      <p:ext uri="{BB962C8B-B14F-4D97-AF65-F5344CB8AC3E}">
        <p14:creationId xmlns:p14="http://schemas.microsoft.com/office/powerpoint/2010/main" val="12738966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01574"/>
            <a:ext cx="7801950"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FACADE (fachada)</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347240" y="1850315"/>
            <a:ext cx="8627426" cy="17847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Es como un </a:t>
            </a:r>
            <a:r>
              <a:rPr lang="es-PE" b="1" dirty="0" smtClean="0"/>
              <a:t>puerto de comunicación </a:t>
            </a:r>
            <a:r>
              <a:rPr lang="es-PE" dirty="0" smtClean="0"/>
              <a:t>hacia un subsistema, </a:t>
            </a:r>
            <a:r>
              <a:rPr lang="es-PE" b="1" dirty="0" smtClean="0">
                <a:solidFill>
                  <a:schemeClr val="accent5"/>
                </a:solidFill>
              </a:rPr>
              <a:t>interconecta</a:t>
            </a:r>
            <a:r>
              <a:rPr lang="es-PE" dirty="0" smtClean="0"/>
              <a:t>. Nos </a:t>
            </a:r>
            <a:r>
              <a:rPr lang="es-PE" dirty="0"/>
              <a:t>proporciona una interfaz simplificada a una biblioteca, un </a:t>
            </a:r>
            <a:r>
              <a:rPr lang="es-PE" dirty="0" err="1"/>
              <a:t>framework</a:t>
            </a:r>
            <a:r>
              <a:rPr lang="es-PE" dirty="0"/>
              <a:t> o cualquier otro grupo complejo de clases</a:t>
            </a:r>
            <a:r>
              <a:rPr lang="es-PE" dirty="0" smtClean="0"/>
              <a:t>.</a:t>
            </a:r>
            <a:endParaRPr lang="es-PE" sz="1800" dirty="0"/>
          </a:p>
        </p:txBody>
      </p:sp>
      <p:sp>
        <p:nvSpPr>
          <p:cNvPr id="7" name="2 Marcador de contenido"/>
          <p:cNvSpPr txBox="1">
            <a:spLocks/>
          </p:cNvSpPr>
          <p:nvPr/>
        </p:nvSpPr>
        <p:spPr>
          <a:xfrm>
            <a:off x="6104996" y="3731093"/>
            <a:ext cx="5900254" cy="22407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defRPr/>
            </a:pPr>
            <a:r>
              <a:rPr lang="es-PE" dirty="0"/>
              <a:t>Tener una fachada </a:t>
            </a:r>
            <a:r>
              <a:rPr lang="es-PE" b="1" dirty="0"/>
              <a:t>resulta útil </a:t>
            </a:r>
            <a:r>
              <a:rPr lang="es-PE" dirty="0"/>
              <a:t>cuando tienes que </a:t>
            </a:r>
            <a:r>
              <a:rPr lang="es-PE" b="1" dirty="0"/>
              <a:t>integrar</a:t>
            </a:r>
            <a:r>
              <a:rPr lang="es-PE" dirty="0"/>
              <a:t> tu aplicación con una biblioteca sofisticada con decenas de funciones, de la cual sólo necesitas una pequeña parte.</a:t>
            </a:r>
            <a:endParaRPr lang="es-PE" sz="1800" dirty="0"/>
          </a:p>
        </p:txBody>
      </p:sp>
      <p:pic>
        <p:nvPicPr>
          <p:cNvPr id="3" name="Imagen 2"/>
          <p:cNvPicPr>
            <a:picLocks noChangeAspect="1"/>
          </p:cNvPicPr>
          <p:nvPr/>
        </p:nvPicPr>
        <p:blipFill>
          <a:blip r:embed="rId3"/>
          <a:stretch>
            <a:fillRect/>
          </a:stretch>
        </p:blipFill>
        <p:spPr>
          <a:xfrm>
            <a:off x="9668662" y="1198443"/>
            <a:ext cx="2191638" cy="1533468"/>
          </a:xfrm>
          <a:prstGeom prst="rect">
            <a:avLst/>
          </a:prstGeom>
        </p:spPr>
      </p:pic>
      <p:sp>
        <p:nvSpPr>
          <p:cNvPr id="8" name="Rectángulo 7"/>
          <p:cNvSpPr/>
          <p:nvPr/>
        </p:nvSpPr>
        <p:spPr>
          <a:xfrm>
            <a:off x="5808615" y="6501174"/>
            <a:ext cx="6196635" cy="244682"/>
          </a:xfrm>
          <a:prstGeom prst="rect">
            <a:avLst/>
          </a:prstGeom>
        </p:spPr>
        <p:txBody>
          <a:bodyPr wrap="square">
            <a:spAutoFit/>
          </a:bodyPr>
          <a:lstStyle/>
          <a:p>
            <a:pPr algn="just">
              <a:lnSpc>
                <a:spcPct val="90000"/>
              </a:lnSpc>
              <a:spcBef>
                <a:spcPts val="1000"/>
              </a:spcBef>
            </a:pPr>
            <a:r>
              <a:rPr lang="es-PE" sz="1100" i="1" dirty="0" smtClean="0">
                <a:solidFill>
                  <a:srgbClr val="222222"/>
                </a:solidFill>
              </a:rPr>
              <a:t>Fuente: De </a:t>
            </a:r>
            <a:r>
              <a:rPr lang="es-PE" sz="1100" i="1" dirty="0" err="1">
                <a:solidFill>
                  <a:srgbClr val="222222"/>
                </a:solidFill>
              </a:rPr>
              <a:t>Parga</a:t>
            </a:r>
            <a:r>
              <a:rPr lang="es-PE" sz="1100" i="1" dirty="0">
                <a:solidFill>
                  <a:srgbClr val="222222"/>
                </a:solidFill>
              </a:rPr>
              <a:t>, C. J. (2021). UML. Arquitectura de aplicaciones en Java, C++ y Python. Ra-</a:t>
            </a:r>
            <a:r>
              <a:rPr lang="es-PE" sz="1100" i="1" dirty="0" err="1">
                <a:solidFill>
                  <a:srgbClr val="222222"/>
                </a:solidFill>
              </a:rPr>
              <a:t>Ma</a:t>
            </a:r>
            <a:r>
              <a:rPr lang="es-PE" sz="1100" i="1" dirty="0">
                <a:solidFill>
                  <a:srgbClr val="222222"/>
                </a:solidFill>
              </a:rPr>
              <a:t> Editorial.</a:t>
            </a:r>
            <a:endParaRPr lang="es-PE" sz="1100" i="1" dirty="0"/>
          </a:p>
        </p:txBody>
      </p:sp>
      <p:sp>
        <p:nvSpPr>
          <p:cNvPr id="9" name="Rectángulo 8"/>
          <p:cNvSpPr/>
          <p:nvPr/>
        </p:nvSpPr>
        <p:spPr>
          <a:xfrm>
            <a:off x="205670" y="6484246"/>
            <a:ext cx="3581430" cy="261610"/>
          </a:xfrm>
          <a:prstGeom prst="rect">
            <a:avLst/>
          </a:prstGeom>
        </p:spPr>
        <p:txBody>
          <a:bodyPr wrap="none">
            <a:spAutoFit/>
          </a:bodyPr>
          <a:lstStyle/>
          <a:p>
            <a:r>
              <a:rPr lang="es-PE" sz="1100" i="1" dirty="0" smtClean="0"/>
              <a:t>Fuente: https</a:t>
            </a:r>
            <a:r>
              <a:rPr lang="es-PE" sz="1100" i="1" dirty="0"/>
              <a:t>://refactoring.guru/es/design-patterns/facade</a:t>
            </a:r>
          </a:p>
        </p:txBody>
      </p:sp>
      <p:pic>
        <p:nvPicPr>
          <p:cNvPr id="2" name="Imagen 1"/>
          <p:cNvPicPr>
            <a:picLocks noChangeAspect="1"/>
          </p:cNvPicPr>
          <p:nvPr/>
        </p:nvPicPr>
        <p:blipFill>
          <a:blip r:embed="rId4"/>
          <a:stretch>
            <a:fillRect/>
          </a:stretch>
        </p:blipFill>
        <p:spPr>
          <a:xfrm>
            <a:off x="194381" y="3812285"/>
            <a:ext cx="5766153" cy="2255607"/>
          </a:xfrm>
          <a:prstGeom prst="rect">
            <a:avLst/>
          </a:prstGeom>
        </p:spPr>
      </p:pic>
    </p:spTree>
    <p:extLst>
      <p:ext uri="{BB962C8B-B14F-4D97-AF65-F5344CB8AC3E}">
        <p14:creationId xmlns:p14="http://schemas.microsoft.com/office/powerpoint/2010/main" val="38612841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84788" y="1603502"/>
            <a:ext cx="4292301"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Participantes</a:t>
            </a:r>
            <a:endParaRPr lang="es-PE" sz="3600" b="1" dirty="0">
              <a:solidFill>
                <a:schemeClr val="accent1"/>
              </a:solidFill>
              <a:effectLst>
                <a:outerShdw blurRad="38100" dist="38100" dir="2700000" algn="tl">
                  <a:srgbClr val="000000">
                    <a:alpha val="43137"/>
                  </a:srgbClr>
                </a:outerShdw>
              </a:effectLst>
            </a:endParaRPr>
          </a:p>
        </p:txBody>
      </p:sp>
      <p:sp>
        <p:nvSpPr>
          <p:cNvPr id="3" name="Rectángulo 2"/>
          <p:cNvSpPr/>
          <p:nvPr/>
        </p:nvSpPr>
        <p:spPr>
          <a:xfrm>
            <a:off x="599276" y="2291731"/>
            <a:ext cx="10949257" cy="3277820"/>
          </a:xfrm>
          <a:prstGeom prst="rect">
            <a:avLst/>
          </a:prstGeom>
        </p:spPr>
        <p:txBody>
          <a:bodyPr wrap="square">
            <a:spAutoFit/>
          </a:bodyPr>
          <a:lstStyle/>
          <a:p>
            <a:pPr marL="342900" indent="-342900">
              <a:buFont typeface="Arial" panose="020B0604020202020204" pitchFamily="34" charset="0"/>
              <a:buChar char="•"/>
            </a:pPr>
            <a:r>
              <a:rPr lang="es-PE" sz="2300" b="1" i="1" dirty="0" err="1" smtClean="0"/>
              <a:t>Facade</a:t>
            </a:r>
            <a:r>
              <a:rPr lang="es-PE" sz="2300" dirty="0" smtClean="0"/>
              <a:t>: Proporciona un </a:t>
            </a:r>
            <a:r>
              <a:rPr lang="es-PE" sz="2300" b="1" dirty="0" smtClean="0">
                <a:solidFill>
                  <a:schemeClr val="accent5"/>
                </a:solidFill>
              </a:rPr>
              <a:t>práctico acceso </a:t>
            </a:r>
            <a:r>
              <a:rPr lang="es-PE" sz="2300" dirty="0" smtClean="0"/>
              <a:t>a una parte de la </a:t>
            </a:r>
            <a:r>
              <a:rPr lang="es-PE" sz="2300" b="1" dirty="0" smtClean="0"/>
              <a:t>funcionalidad</a:t>
            </a:r>
            <a:r>
              <a:rPr lang="es-PE" sz="2300" dirty="0" smtClean="0"/>
              <a:t> de un </a:t>
            </a:r>
            <a:r>
              <a:rPr lang="es-PE" sz="2300" b="1" dirty="0" smtClean="0"/>
              <a:t>subsistema</a:t>
            </a:r>
            <a:r>
              <a:rPr lang="es-PE" sz="2300" dirty="0" smtClean="0"/>
              <a:t>. Esta clase sabe a donde dirigir la petición del cliente y como operar.</a:t>
            </a:r>
          </a:p>
          <a:p>
            <a:pPr marL="342900" indent="-342900">
              <a:buFont typeface="Arial" panose="020B0604020202020204" pitchFamily="34" charset="0"/>
              <a:buChar char="•"/>
            </a:pPr>
            <a:r>
              <a:rPr lang="es-PE" sz="2300" b="1" i="1" dirty="0" err="1" smtClean="0"/>
              <a:t>Additional</a:t>
            </a:r>
            <a:r>
              <a:rPr lang="es-PE" sz="2300" b="1" i="1" dirty="0" smtClean="0"/>
              <a:t> </a:t>
            </a:r>
            <a:r>
              <a:rPr lang="es-PE" sz="2300" b="1" i="1" dirty="0" err="1" smtClean="0"/>
              <a:t>Facade</a:t>
            </a:r>
            <a:r>
              <a:rPr lang="es-PE" sz="2300" b="1" i="1" dirty="0" smtClean="0"/>
              <a:t>: </a:t>
            </a:r>
            <a:r>
              <a:rPr lang="es-PE" sz="2300" dirty="0" smtClean="0"/>
              <a:t>Esta es </a:t>
            </a:r>
            <a:r>
              <a:rPr lang="es-PE" sz="2300" b="1" i="1" dirty="0" smtClean="0"/>
              <a:t>opcional</a:t>
            </a:r>
            <a:r>
              <a:rPr lang="es-PE" sz="2300" dirty="0" smtClean="0"/>
              <a:t> y se crea para </a:t>
            </a:r>
            <a:r>
              <a:rPr lang="es-PE" sz="2300" i="1" dirty="0" smtClean="0"/>
              <a:t>evitar contaminar una única fachada </a:t>
            </a:r>
            <a:r>
              <a:rPr lang="es-PE" sz="2300" dirty="0" smtClean="0"/>
              <a:t>con funciones no relacionadas. La utilizan clientes y otras fachadas.</a:t>
            </a:r>
          </a:p>
          <a:p>
            <a:pPr marL="342900" indent="-342900">
              <a:buFont typeface="Arial" panose="020B0604020202020204" pitchFamily="34" charset="0"/>
              <a:buChar char="•"/>
            </a:pPr>
            <a:r>
              <a:rPr lang="es-PE" sz="2300" b="1" i="1" dirty="0" smtClean="0"/>
              <a:t>Subsistema</a:t>
            </a:r>
            <a:r>
              <a:rPr lang="es-PE" sz="2300" dirty="0" smtClean="0"/>
              <a:t>: Conjunto de </a:t>
            </a:r>
            <a:r>
              <a:rPr lang="es-PE" sz="2300" b="1" dirty="0" smtClean="0">
                <a:solidFill>
                  <a:schemeClr val="accent5"/>
                </a:solidFill>
              </a:rPr>
              <a:t>clases</a:t>
            </a:r>
            <a:r>
              <a:rPr lang="es-PE" sz="2300" dirty="0" smtClean="0"/>
              <a:t> que tienen una </a:t>
            </a:r>
            <a:r>
              <a:rPr lang="es-PE" sz="2300" b="1" dirty="0" smtClean="0">
                <a:solidFill>
                  <a:schemeClr val="accent5"/>
                </a:solidFill>
              </a:rPr>
              <a:t>funcionalidad e interactúan</a:t>
            </a:r>
            <a:r>
              <a:rPr lang="es-PE" sz="2300" dirty="0" smtClean="0"/>
              <a:t>. Éstas clases no conocen la existencia de la fachada pues operan dentro del sistema.</a:t>
            </a:r>
          </a:p>
          <a:p>
            <a:pPr marL="342900" indent="-342900">
              <a:buFont typeface="Arial" panose="020B0604020202020204" pitchFamily="34" charset="0"/>
              <a:buChar char="•"/>
            </a:pPr>
            <a:r>
              <a:rPr lang="es-PE" sz="2300" b="1" i="1" dirty="0" smtClean="0"/>
              <a:t>Cliente</a:t>
            </a:r>
            <a:r>
              <a:rPr lang="es-PE" sz="2300" b="1" i="1" dirty="0"/>
              <a:t>: </a:t>
            </a:r>
            <a:r>
              <a:rPr lang="es-PE" sz="2300" dirty="0" smtClean="0"/>
              <a:t>Utiliza la fachada en lugar de invocar directamente a los objetos del subsistema.</a:t>
            </a:r>
            <a:endParaRPr lang="es-PE" sz="2300" dirty="0"/>
          </a:p>
          <a:p>
            <a:pPr marL="342900" indent="-342900">
              <a:buFont typeface="Arial" panose="020B0604020202020204" pitchFamily="34" charset="0"/>
              <a:buChar char="•"/>
            </a:pPr>
            <a:endParaRPr lang="es-PE" sz="2300" dirty="0"/>
          </a:p>
        </p:txBody>
      </p:sp>
      <p:sp>
        <p:nvSpPr>
          <p:cNvPr id="5" name="Rectángulo 4"/>
          <p:cNvSpPr/>
          <p:nvPr/>
        </p:nvSpPr>
        <p:spPr>
          <a:xfrm>
            <a:off x="5808615" y="6501174"/>
            <a:ext cx="6196635" cy="244682"/>
          </a:xfrm>
          <a:prstGeom prst="rect">
            <a:avLst/>
          </a:prstGeom>
        </p:spPr>
        <p:txBody>
          <a:bodyPr wrap="square">
            <a:spAutoFit/>
          </a:bodyPr>
          <a:lstStyle/>
          <a:p>
            <a:pPr algn="just">
              <a:lnSpc>
                <a:spcPct val="90000"/>
              </a:lnSpc>
              <a:spcBef>
                <a:spcPts val="1000"/>
              </a:spcBef>
            </a:pPr>
            <a:r>
              <a:rPr lang="es-PE" sz="1100" i="1" dirty="0" smtClean="0">
                <a:solidFill>
                  <a:srgbClr val="222222"/>
                </a:solidFill>
              </a:rPr>
              <a:t>Fuente: De </a:t>
            </a:r>
            <a:r>
              <a:rPr lang="es-PE" sz="1100" i="1" dirty="0" err="1">
                <a:solidFill>
                  <a:srgbClr val="222222"/>
                </a:solidFill>
              </a:rPr>
              <a:t>Parga</a:t>
            </a:r>
            <a:r>
              <a:rPr lang="es-PE" sz="1100" i="1" dirty="0">
                <a:solidFill>
                  <a:srgbClr val="222222"/>
                </a:solidFill>
              </a:rPr>
              <a:t>, C. J. (2021). UML. Arquitectura de aplicaciones en Java, C++ y Python. Ra-</a:t>
            </a:r>
            <a:r>
              <a:rPr lang="es-PE" sz="1100" i="1" dirty="0" err="1">
                <a:solidFill>
                  <a:srgbClr val="222222"/>
                </a:solidFill>
              </a:rPr>
              <a:t>Ma</a:t>
            </a:r>
            <a:r>
              <a:rPr lang="es-PE" sz="1100" i="1" dirty="0">
                <a:solidFill>
                  <a:srgbClr val="222222"/>
                </a:solidFill>
              </a:rPr>
              <a:t> Editorial.</a:t>
            </a:r>
            <a:endParaRPr lang="es-PE" sz="1100" i="1" dirty="0"/>
          </a:p>
        </p:txBody>
      </p:sp>
      <p:sp>
        <p:nvSpPr>
          <p:cNvPr id="8" name="Rectángulo 7"/>
          <p:cNvSpPr/>
          <p:nvPr/>
        </p:nvSpPr>
        <p:spPr>
          <a:xfrm>
            <a:off x="205670" y="6484246"/>
            <a:ext cx="3581430" cy="261610"/>
          </a:xfrm>
          <a:prstGeom prst="rect">
            <a:avLst/>
          </a:prstGeom>
        </p:spPr>
        <p:txBody>
          <a:bodyPr wrap="none">
            <a:spAutoFit/>
          </a:bodyPr>
          <a:lstStyle/>
          <a:p>
            <a:r>
              <a:rPr lang="es-PE" sz="1100" i="1" dirty="0" smtClean="0"/>
              <a:t>Fuente: https</a:t>
            </a:r>
            <a:r>
              <a:rPr lang="es-PE" sz="1100" i="1" dirty="0"/>
              <a:t>://refactoring.guru/es/design-patterns/facade</a:t>
            </a:r>
          </a:p>
        </p:txBody>
      </p:sp>
    </p:spTree>
    <p:extLst>
      <p:ext uri="{BB962C8B-B14F-4D97-AF65-F5344CB8AC3E}">
        <p14:creationId xmlns:p14="http://schemas.microsoft.com/office/powerpoint/2010/main" val="1864549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42723" y="2563057"/>
            <a:ext cx="2547233" cy="1602543"/>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Ejemplo </a:t>
            </a:r>
            <a:br>
              <a:rPr lang="es-PE" sz="3600" b="1" dirty="0" smtClean="0">
                <a:solidFill>
                  <a:schemeClr val="accent1"/>
                </a:solidFill>
                <a:effectLst>
                  <a:outerShdw blurRad="38100" dist="38100" dir="2700000" algn="tl">
                    <a:srgbClr val="000000">
                      <a:alpha val="43137"/>
                    </a:srgbClr>
                  </a:outerShdw>
                </a:effectLst>
              </a:rPr>
            </a:br>
            <a:r>
              <a:rPr lang="es-PE" sz="3600" b="1" dirty="0" smtClean="0">
                <a:solidFill>
                  <a:schemeClr val="accent1"/>
                </a:solidFill>
                <a:effectLst>
                  <a:outerShdw blurRad="38100" dist="38100" dir="2700000" algn="tl">
                    <a:srgbClr val="000000">
                      <a:alpha val="43137"/>
                    </a:srgbClr>
                  </a:outerShdw>
                </a:effectLst>
              </a:rPr>
              <a:t>de patrón FACADE</a:t>
            </a:r>
            <a:endParaRPr lang="es-PE" sz="3600" b="1" dirty="0">
              <a:solidFill>
                <a:schemeClr val="accent1"/>
              </a:solidFill>
              <a:effectLst>
                <a:outerShdw blurRad="38100" dist="38100" dir="2700000" algn="tl">
                  <a:srgbClr val="000000">
                    <a:alpha val="43137"/>
                  </a:srgbClr>
                </a:outerShdw>
              </a:effectLst>
            </a:endParaRPr>
          </a:p>
        </p:txBody>
      </p:sp>
      <p:pic>
        <p:nvPicPr>
          <p:cNvPr id="3" name="Imagen 2"/>
          <p:cNvPicPr>
            <a:picLocks noChangeAspect="1"/>
          </p:cNvPicPr>
          <p:nvPr/>
        </p:nvPicPr>
        <p:blipFill>
          <a:blip r:embed="rId3"/>
          <a:stretch>
            <a:fillRect/>
          </a:stretch>
        </p:blipFill>
        <p:spPr>
          <a:xfrm>
            <a:off x="3082220" y="1294165"/>
            <a:ext cx="7562850" cy="4924425"/>
          </a:xfrm>
          <a:prstGeom prst="rect">
            <a:avLst/>
          </a:prstGeom>
        </p:spPr>
      </p:pic>
      <p:sp>
        <p:nvSpPr>
          <p:cNvPr id="6" name="Rectángulo 5"/>
          <p:cNvSpPr/>
          <p:nvPr/>
        </p:nvSpPr>
        <p:spPr>
          <a:xfrm>
            <a:off x="205670" y="6484246"/>
            <a:ext cx="3581430" cy="261610"/>
          </a:xfrm>
          <a:prstGeom prst="rect">
            <a:avLst/>
          </a:prstGeom>
        </p:spPr>
        <p:txBody>
          <a:bodyPr wrap="none">
            <a:spAutoFit/>
          </a:bodyPr>
          <a:lstStyle/>
          <a:p>
            <a:r>
              <a:rPr lang="es-PE" sz="1100" i="1" dirty="0" smtClean="0"/>
              <a:t>Fuente: https</a:t>
            </a:r>
            <a:r>
              <a:rPr lang="es-PE" sz="1100" i="1" dirty="0"/>
              <a:t>://refactoring.guru/es/design-patterns/facade</a:t>
            </a:r>
          </a:p>
        </p:txBody>
      </p:sp>
    </p:spTree>
    <p:extLst>
      <p:ext uri="{BB962C8B-B14F-4D97-AF65-F5344CB8AC3E}">
        <p14:creationId xmlns:p14="http://schemas.microsoft.com/office/powerpoint/2010/main" val="25394352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42723" y="2563057"/>
            <a:ext cx="2547233" cy="1602543"/>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Ejemplo </a:t>
            </a:r>
            <a:br>
              <a:rPr lang="es-PE" sz="3600" b="1" dirty="0" smtClean="0">
                <a:solidFill>
                  <a:schemeClr val="accent1"/>
                </a:solidFill>
                <a:effectLst>
                  <a:outerShdw blurRad="38100" dist="38100" dir="2700000" algn="tl">
                    <a:srgbClr val="000000">
                      <a:alpha val="43137"/>
                    </a:srgbClr>
                  </a:outerShdw>
                </a:effectLst>
              </a:rPr>
            </a:br>
            <a:r>
              <a:rPr lang="es-PE" sz="3600" b="1" dirty="0" smtClean="0">
                <a:solidFill>
                  <a:schemeClr val="accent1"/>
                </a:solidFill>
                <a:effectLst>
                  <a:outerShdw blurRad="38100" dist="38100" dir="2700000" algn="tl">
                    <a:srgbClr val="000000">
                      <a:alpha val="43137"/>
                    </a:srgbClr>
                  </a:outerShdw>
                </a:effectLst>
              </a:rPr>
              <a:t>de patrón FACADE</a:t>
            </a:r>
            <a:endParaRPr lang="es-PE" sz="3600" b="1" dirty="0">
              <a:solidFill>
                <a:schemeClr val="accent1"/>
              </a:solidFill>
              <a:effectLst>
                <a:outerShdw blurRad="38100" dist="38100" dir="2700000" algn="tl">
                  <a:srgbClr val="000000">
                    <a:alpha val="43137"/>
                  </a:srgbClr>
                </a:outerShdw>
              </a:effectLst>
            </a:endParaRPr>
          </a:p>
        </p:txBody>
      </p:sp>
      <p:sp>
        <p:nvSpPr>
          <p:cNvPr id="6" name="Rectángulo 5"/>
          <p:cNvSpPr/>
          <p:nvPr/>
        </p:nvSpPr>
        <p:spPr>
          <a:xfrm>
            <a:off x="205670" y="6484246"/>
            <a:ext cx="3581430" cy="261610"/>
          </a:xfrm>
          <a:prstGeom prst="rect">
            <a:avLst/>
          </a:prstGeom>
        </p:spPr>
        <p:txBody>
          <a:bodyPr wrap="none">
            <a:spAutoFit/>
          </a:bodyPr>
          <a:lstStyle/>
          <a:p>
            <a:r>
              <a:rPr lang="es-PE" sz="1100" i="1" dirty="0" smtClean="0"/>
              <a:t>Fuente: https</a:t>
            </a:r>
            <a:r>
              <a:rPr lang="es-PE" sz="1100" i="1" dirty="0"/>
              <a:t>://refactoring.guru/es/design-patterns/facade</a:t>
            </a:r>
          </a:p>
        </p:txBody>
      </p:sp>
      <p:pic>
        <p:nvPicPr>
          <p:cNvPr id="2" name="Imagen 1"/>
          <p:cNvPicPr>
            <a:picLocks noChangeAspect="1"/>
          </p:cNvPicPr>
          <p:nvPr/>
        </p:nvPicPr>
        <p:blipFill>
          <a:blip r:embed="rId3"/>
          <a:stretch>
            <a:fillRect/>
          </a:stretch>
        </p:blipFill>
        <p:spPr>
          <a:xfrm>
            <a:off x="4155311" y="1238491"/>
            <a:ext cx="6347128" cy="4956979"/>
          </a:xfrm>
          <a:prstGeom prst="rect">
            <a:avLst/>
          </a:prstGeom>
        </p:spPr>
      </p:pic>
      <p:sp>
        <p:nvSpPr>
          <p:cNvPr id="4" name="Rectángulo 3"/>
          <p:cNvSpPr/>
          <p:nvPr/>
        </p:nvSpPr>
        <p:spPr>
          <a:xfrm>
            <a:off x="571018" y="4863258"/>
            <a:ext cx="3584293" cy="923330"/>
          </a:xfrm>
          <a:prstGeom prst="rect">
            <a:avLst/>
          </a:prstGeom>
        </p:spPr>
        <p:txBody>
          <a:bodyPr wrap="square">
            <a:spAutoFit/>
          </a:bodyPr>
          <a:lstStyle/>
          <a:p>
            <a:r>
              <a:rPr lang="es-PE" dirty="0">
                <a:solidFill>
                  <a:srgbClr val="999999"/>
                </a:solidFill>
                <a:latin typeface="PT Sans"/>
              </a:rPr>
              <a:t>Un ejemplo de aislamiento de múltiples dependencias dentro de una única clase fachada.</a:t>
            </a:r>
            <a:endParaRPr lang="es-PE" dirty="0"/>
          </a:p>
        </p:txBody>
      </p:sp>
    </p:spTree>
    <p:extLst>
      <p:ext uri="{BB962C8B-B14F-4D97-AF65-F5344CB8AC3E}">
        <p14:creationId xmlns:p14="http://schemas.microsoft.com/office/powerpoint/2010/main" val="42153073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452521" y="1366436"/>
            <a:ext cx="4292301"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Ventajas</a:t>
            </a:r>
            <a:endParaRPr lang="es-PE" sz="3600" b="1" dirty="0">
              <a:solidFill>
                <a:schemeClr val="accent1"/>
              </a:solidFill>
              <a:effectLst>
                <a:outerShdw blurRad="38100" dist="38100" dir="2700000" algn="tl">
                  <a:srgbClr val="000000">
                    <a:alpha val="43137"/>
                  </a:srgbClr>
                </a:outerShdw>
              </a:effectLst>
            </a:endParaRPr>
          </a:p>
        </p:txBody>
      </p:sp>
      <p:sp>
        <p:nvSpPr>
          <p:cNvPr id="3" name="Rectángulo 2"/>
          <p:cNvSpPr/>
          <p:nvPr/>
        </p:nvSpPr>
        <p:spPr>
          <a:xfrm>
            <a:off x="531543" y="2061932"/>
            <a:ext cx="10836368" cy="1446550"/>
          </a:xfrm>
          <a:prstGeom prst="rect">
            <a:avLst/>
          </a:prstGeom>
        </p:spPr>
        <p:txBody>
          <a:bodyPr wrap="square">
            <a:spAutoFit/>
          </a:bodyPr>
          <a:lstStyle/>
          <a:p>
            <a:pPr marL="342900" indent="-342900">
              <a:buFont typeface="Arial" panose="020B0604020202020204" pitchFamily="34" charset="0"/>
              <a:buChar char="•"/>
            </a:pPr>
            <a:r>
              <a:rPr lang="es-PE" sz="2200" dirty="0" smtClean="0"/>
              <a:t>Lo utilizamos cuando necesitamos una </a:t>
            </a:r>
            <a:r>
              <a:rPr lang="es-PE" sz="2200" b="1" dirty="0" smtClean="0">
                <a:solidFill>
                  <a:schemeClr val="accent5"/>
                </a:solidFill>
              </a:rPr>
              <a:t>interfaz directa </a:t>
            </a:r>
            <a:r>
              <a:rPr lang="es-PE" sz="2200" dirty="0" smtClean="0"/>
              <a:t>a un </a:t>
            </a:r>
            <a:r>
              <a:rPr lang="es-PE" sz="2200" b="1" dirty="0" smtClean="0"/>
              <a:t>sistema complejo</a:t>
            </a:r>
            <a:r>
              <a:rPr lang="es-PE" sz="2200" dirty="0" smtClean="0"/>
              <a:t>.</a:t>
            </a:r>
          </a:p>
          <a:p>
            <a:pPr marL="342900" indent="-342900">
              <a:buFont typeface="Arial" panose="020B0604020202020204" pitchFamily="34" charset="0"/>
              <a:buChar char="•"/>
            </a:pPr>
            <a:r>
              <a:rPr lang="es-PE" sz="2200" dirty="0" smtClean="0"/>
              <a:t>Me permite </a:t>
            </a:r>
            <a:r>
              <a:rPr lang="es-PE" sz="2200" b="1" dirty="0" smtClean="0"/>
              <a:t>reducir el </a:t>
            </a:r>
            <a:r>
              <a:rPr lang="es-PE" sz="2200" b="1" dirty="0" smtClean="0">
                <a:solidFill>
                  <a:schemeClr val="accent5"/>
                </a:solidFill>
              </a:rPr>
              <a:t>acoplamiento</a:t>
            </a:r>
            <a:r>
              <a:rPr lang="es-PE" sz="2200" b="1" dirty="0" smtClean="0"/>
              <a:t> </a:t>
            </a:r>
            <a:r>
              <a:rPr lang="es-PE" sz="2200" dirty="0" smtClean="0"/>
              <a:t>entre subsistemas, porque les pide que se comunique sólo a través de la fachada.</a:t>
            </a:r>
          </a:p>
          <a:p>
            <a:pPr marL="342900" indent="-342900">
              <a:buFont typeface="Arial" panose="020B0604020202020204" pitchFamily="34" charset="0"/>
              <a:buChar char="•"/>
            </a:pPr>
            <a:r>
              <a:rPr lang="es-PE" sz="2200" dirty="0" smtClean="0"/>
              <a:t>Permite el </a:t>
            </a:r>
            <a:r>
              <a:rPr lang="es-PE" sz="2200" b="1" dirty="0" smtClean="0">
                <a:solidFill>
                  <a:schemeClr val="accent5"/>
                </a:solidFill>
              </a:rPr>
              <a:t>aislamiento de código</a:t>
            </a:r>
            <a:r>
              <a:rPr lang="es-PE" sz="2200" dirty="0" smtClean="0"/>
              <a:t>.</a:t>
            </a:r>
          </a:p>
        </p:txBody>
      </p:sp>
      <p:sp>
        <p:nvSpPr>
          <p:cNvPr id="9" name="Rectángulo 8"/>
          <p:cNvSpPr/>
          <p:nvPr/>
        </p:nvSpPr>
        <p:spPr>
          <a:xfrm>
            <a:off x="205670" y="6484246"/>
            <a:ext cx="3581430" cy="261610"/>
          </a:xfrm>
          <a:prstGeom prst="rect">
            <a:avLst/>
          </a:prstGeom>
        </p:spPr>
        <p:txBody>
          <a:bodyPr wrap="none">
            <a:spAutoFit/>
          </a:bodyPr>
          <a:lstStyle/>
          <a:p>
            <a:r>
              <a:rPr lang="es-PE" sz="1100" i="1" dirty="0" smtClean="0"/>
              <a:t>Fuente: https</a:t>
            </a:r>
            <a:r>
              <a:rPr lang="es-PE" sz="1100" i="1" dirty="0"/>
              <a:t>://refactoring.guru/es/design-patterns/facade</a:t>
            </a:r>
          </a:p>
        </p:txBody>
      </p:sp>
    </p:spTree>
    <p:extLst>
      <p:ext uri="{BB962C8B-B14F-4D97-AF65-F5344CB8AC3E}">
        <p14:creationId xmlns:p14="http://schemas.microsoft.com/office/powerpoint/2010/main" val="36736516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3" y="1301574"/>
            <a:ext cx="8173769"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ADAPTER (adaptador, envoltorio, </a:t>
            </a:r>
            <a:r>
              <a:rPr lang="es-PE" sz="3600" b="1" dirty="0" err="1" smtClean="0">
                <a:solidFill>
                  <a:schemeClr val="accent1"/>
                </a:solidFill>
                <a:effectLst>
                  <a:outerShdw blurRad="38100" dist="38100" dir="2700000" algn="tl">
                    <a:srgbClr val="000000">
                      <a:alpha val="43137"/>
                    </a:srgbClr>
                  </a:outerShdw>
                </a:effectLst>
              </a:rPr>
              <a:t>wrapper</a:t>
            </a:r>
            <a:r>
              <a:rPr lang="es-PE" sz="3600" b="1" dirty="0" smtClean="0">
                <a:solidFill>
                  <a:schemeClr val="accent1"/>
                </a:solidFill>
                <a:effectLst>
                  <a:outerShdw blurRad="38100" dist="38100" dir="2700000" algn="tl">
                    <a:srgbClr val="000000">
                      <a:alpha val="43137"/>
                    </a:srgbClr>
                  </a:outerShdw>
                </a:effectLst>
              </a:rPr>
              <a:t>)</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347240" y="2151617"/>
            <a:ext cx="8627426" cy="9353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Este patrón </a:t>
            </a:r>
            <a:r>
              <a:rPr lang="es-PE" dirty="0"/>
              <a:t>permite la </a:t>
            </a:r>
            <a:r>
              <a:rPr lang="es-PE" b="1" dirty="0">
                <a:solidFill>
                  <a:schemeClr val="accent5"/>
                </a:solidFill>
              </a:rPr>
              <a:t>colaboración </a:t>
            </a:r>
            <a:r>
              <a:rPr lang="es-PE" dirty="0"/>
              <a:t>entre objetos con </a:t>
            </a:r>
            <a:r>
              <a:rPr lang="es-PE" b="1" dirty="0">
                <a:solidFill>
                  <a:schemeClr val="accent5"/>
                </a:solidFill>
              </a:rPr>
              <a:t>interfaces incompatibles</a:t>
            </a:r>
            <a:r>
              <a:rPr lang="es-PE" dirty="0"/>
              <a:t>.</a:t>
            </a:r>
            <a:endParaRPr lang="es-PE" sz="1800" dirty="0"/>
          </a:p>
        </p:txBody>
      </p:sp>
      <p:sp>
        <p:nvSpPr>
          <p:cNvPr id="7" name="2 Marcador de contenido"/>
          <p:cNvSpPr txBox="1">
            <a:spLocks/>
          </p:cNvSpPr>
          <p:nvPr/>
        </p:nvSpPr>
        <p:spPr>
          <a:xfrm>
            <a:off x="347240" y="3218011"/>
            <a:ext cx="5208608" cy="31051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defRPr/>
            </a:pPr>
            <a:r>
              <a:rPr lang="es-PE" sz="2400" b="1" dirty="0" smtClean="0"/>
              <a:t>¿Qué pasa si deseo hacer uso de una librería para una aplicación pero los datos que recibe no son los que entrego como salida?</a:t>
            </a:r>
            <a:br>
              <a:rPr lang="es-PE" sz="2400" b="1" dirty="0" smtClean="0"/>
            </a:br>
            <a:r>
              <a:rPr lang="es-PE" sz="2400" dirty="0" smtClean="0"/>
              <a:t>Podríamos intentar modificar código de la librería para que se comunique con nuestra aplicación, pero puede ser que ni siquiera tengamos acceso a él.</a:t>
            </a:r>
            <a:endParaRPr lang="es-PE" sz="1600" dirty="0"/>
          </a:p>
        </p:txBody>
      </p:sp>
      <p:pic>
        <p:nvPicPr>
          <p:cNvPr id="3" name="Imagen 2"/>
          <p:cNvPicPr>
            <a:picLocks noChangeAspect="1"/>
          </p:cNvPicPr>
          <p:nvPr/>
        </p:nvPicPr>
        <p:blipFill>
          <a:blip r:embed="rId3"/>
          <a:stretch>
            <a:fillRect/>
          </a:stretch>
        </p:blipFill>
        <p:spPr>
          <a:xfrm>
            <a:off x="9686649" y="1100517"/>
            <a:ext cx="2197463" cy="1353316"/>
          </a:xfrm>
          <a:prstGeom prst="rect">
            <a:avLst/>
          </a:prstGeom>
        </p:spPr>
      </p:pic>
      <p:sp>
        <p:nvSpPr>
          <p:cNvPr id="8" name="Rectángulo 7"/>
          <p:cNvSpPr/>
          <p:nvPr/>
        </p:nvSpPr>
        <p:spPr>
          <a:xfrm>
            <a:off x="205670" y="6484246"/>
            <a:ext cx="3645550" cy="261610"/>
          </a:xfrm>
          <a:prstGeom prst="rect">
            <a:avLst/>
          </a:prstGeom>
        </p:spPr>
        <p:txBody>
          <a:bodyPr wrap="none">
            <a:spAutoFit/>
          </a:bodyPr>
          <a:lstStyle/>
          <a:p>
            <a:r>
              <a:rPr lang="es-PE" sz="1100" i="1" dirty="0" smtClean="0"/>
              <a:t>Fuente: https</a:t>
            </a:r>
            <a:r>
              <a:rPr lang="es-PE" sz="1100" i="1" dirty="0"/>
              <a:t>://refactoring.guru/es/design-patterns/adapter</a:t>
            </a:r>
          </a:p>
        </p:txBody>
      </p:sp>
      <p:pic>
        <p:nvPicPr>
          <p:cNvPr id="2" name="Imagen 1"/>
          <p:cNvPicPr>
            <a:picLocks noChangeAspect="1"/>
          </p:cNvPicPr>
          <p:nvPr/>
        </p:nvPicPr>
        <p:blipFill>
          <a:blip r:embed="rId4"/>
          <a:stretch>
            <a:fillRect/>
          </a:stretch>
        </p:blipFill>
        <p:spPr>
          <a:xfrm>
            <a:off x="5914663" y="3388279"/>
            <a:ext cx="6277337" cy="2496462"/>
          </a:xfrm>
          <a:prstGeom prst="rect">
            <a:avLst/>
          </a:prstGeom>
        </p:spPr>
      </p:pic>
    </p:spTree>
    <p:extLst>
      <p:ext uri="{BB962C8B-B14F-4D97-AF65-F5344CB8AC3E}">
        <p14:creationId xmlns:p14="http://schemas.microsoft.com/office/powerpoint/2010/main" val="23711929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01574"/>
            <a:ext cx="7801950"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Solución ADAPTER</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5417385" y="1397686"/>
            <a:ext cx="6435091" cy="49220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Crear un </a:t>
            </a:r>
            <a:r>
              <a:rPr lang="es-PE" b="1" dirty="0" smtClean="0">
                <a:solidFill>
                  <a:schemeClr val="accent5"/>
                </a:solidFill>
              </a:rPr>
              <a:t>adaptador</a:t>
            </a:r>
            <a:r>
              <a:rPr lang="es-PE" dirty="0" smtClean="0"/>
              <a:t>, que es un objeto especial que </a:t>
            </a:r>
            <a:r>
              <a:rPr lang="es-PE" b="1" dirty="0" smtClean="0">
                <a:solidFill>
                  <a:schemeClr val="accent5"/>
                </a:solidFill>
              </a:rPr>
              <a:t>convierte</a:t>
            </a:r>
            <a:r>
              <a:rPr lang="es-PE" dirty="0" smtClean="0"/>
              <a:t> la interfaz de un objeto para que otro pueda </a:t>
            </a:r>
            <a:r>
              <a:rPr lang="es-PE" b="1" dirty="0" smtClean="0"/>
              <a:t>entenderlo</a:t>
            </a:r>
            <a:r>
              <a:rPr lang="es-PE" dirty="0" smtClean="0"/>
              <a:t>. </a:t>
            </a:r>
          </a:p>
          <a:p>
            <a:r>
              <a:rPr lang="es-PE" dirty="0" smtClean="0"/>
              <a:t>El objeto que está siendo envuelto </a:t>
            </a:r>
            <a:r>
              <a:rPr lang="es-PE" i="1" dirty="0" smtClean="0"/>
              <a:t>no es consciente	que existe el adaptador. </a:t>
            </a:r>
          </a:p>
          <a:p>
            <a:r>
              <a:rPr lang="es-PE" dirty="0" smtClean="0"/>
              <a:t>Primero el adaptador debe obtener la interfaz compatible con los objetos existentes. Con ésta interfaz el objeto invoca los métodos del adaptador y finalmente el adaptador le pasa la solicitud al segundo objeto según el otro lo espera.</a:t>
            </a:r>
            <a:endParaRPr lang="es-PE" dirty="0"/>
          </a:p>
        </p:txBody>
      </p:sp>
      <p:sp>
        <p:nvSpPr>
          <p:cNvPr id="7" name="Rectángulo 6"/>
          <p:cNvSpPr/>
          <p:nvPr/>
        </p:nvSpPr>
        <p:spPr>
          <a:xfrm>
            <a:off x="205670" y="6484246"/>
            <a:ext cx="3645550" cy="261610"/>
          </a:xfrm>
          <a:prstGeom prst="rect">
            <a:avLst/>
          </a:prstGeom>
        </p:spPr>
        <p:txBody>
          <a:bodyPr wrap="none">
            <a:spAutoFit/>
          </a:bodyPr>
          <a:lstStyle/>
          <a:p>
            <a:r>
              <a:rPr lang="es-PE" sz="1100" i="1" dirty="0" smtClean="0"/>
              <a:t>Fuente: https</a:t>
            </a:r>
            <a:r>
              <a:rPr lang="es-PE" sz="1100" i="1" dirty="0"/>
              <a:t>://refactoring.guru/es/design-patterns/adapter</a:t>
            </a:r>
          </a:p>
        </p:txBody>
      </p:sp>
      <p:pic>
        <p:nvPicPr>
          <p:cNvPr id="3" name="Imagen 2"/>
          <p:cNvPicPr>
            <a:picLocks noChangeAspect="1"/>
          </p:cNvPicPr>
          <p:nvPr/>
        </p:nvPicPr>
        <p:blipFill>
          <a:blip r:embed="rId3"/>
          <a:stretch>
            <a:fillRect/>
          </a:stretch>
        </p:blipFill>
        <p:spPr>
          <a:xfrm>
            <a:off x="228820" y="2280216"/>
            <a:ext cx="5062668" cy="3160551"/>
          </a:xfrm>
          <a:prstGeom prst="rect">
            <a:avLst/>
          </a:prstGeom>
        </p:spPr>
      </p:pic>
    </p:spTree>
    <p:extLst>
      <p:ext uri="{BB962C8B-B14F-4D97-AF65-F5344CB8AC3E}">
        <p14:creationId xmlns:p14="http://schemas.microsoft.com/office/powerpoint/2010/main" val="4434135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84788" y="1603502"/>
            <a:ext cx="4292301"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Participantes</a:t>
            </a:r>
            <a:endParaRPr lang="es-PE" sz="3600" b="1" dirty="0">
              <a:solidFill>
                <a:schemeClr val="accent1"/>
              </a:solidFill>
              <a:effectLst>
                <a:outerShdw blurRad="38100" dist="38100" dir="2700000" algn="tl">
                  <a:srgbClr val="000000">
                    <a:alpha val="43137"/>
                  </a:srgbClr>
                </a:outerShdw>
              </a:effectLst>
            </a:endParaRPr>
          </a:p>
        </p:txBody>
      </p:sp>
      <p:sp>
        <p:nvSpPr>
          <p:cNvPr id="3" name="Rectángulo 2"/>
          <p:cNvSpPr/>
          <p:nvPr/>
        </p:nvSpPr>
        <p:spPr>
          <a:xfrm>
            <a:off x="599276" y="2291731"/>
            <a:ext cx="10949257" cy="2923877"/>
          </a:xfrm>
          <a:prstGeom prst="rect">
            <a:avLst/>
          </a:prstGeom>
        </p:spPr>
        <p:txBody>
          <a:bodyPr wrap="square">
            <a:spAutoFit/>
          </a:bodyPr>
          <a:lstStyle/>
          <a:p>
            <a:pPr marL="342900" indent="-342900">
              <a:buFont typeface="Arial" panose="020B0604020202020204" pitchFamily="34" charset="0"/>
              <a:buChar char="•"/>
            </a:pPr>
            <a:r>
              <a:rPr lang="es-PE" sz="2300" b="1" i="1" dirty="0" err="1" smtClean="0"/>
              <a:t>Service</a:t>
            </a:r>
            <a:r>
              <a:rPr lang="es-PE" sz="2300" dirty="0" smtClean="0"/>
              <a:t>: Clase útil, pero que no puede ser utilizada directamente porque es incompatible. (librería, código de terceros, etc.)</a:t>
            </a:r>
          </a:p>
          <a:p>
            <a:pPr marL="342900" indent="-342900">
              <a:buFont typeface="Arial" panose="020B0604020202020204" pitchFamily="34" charset="0"/>
              <a:buChar char="•"/>
            </a:pPr>
            <a:r>
              <a:rPr lang="es-PE" sz="2300" b="1" i="1" dirty="0" err="1" smtClean="0"/>
              <a:t>Adapter</a:t>
            </a:r>
            <a:r>
              <a:rPr lang="es-PE" sz="2300" dirty="0" smtClean="0"/>
              <a:t>: Trabaja con la clase cliente y la de servicio. Implementa la interfaz del cliente mientras envuelve el objeto de la clase de servicio. Recibe las llamadas y las traduce  para que pueda entender el servicio.</a:t>
            </a:r>
            <a:endParaRPr lang="es-PE" sz="2300" b="1" i="1" dirty="0" smtClean="0"/>
          </a:p>
          <a:p>
            <a:pPr marL="342900" indent="-342900">
              <a:buFont typeface="Arial" panose="020B0604020202020204" pitchFamily="34" charset="0"/>
              <a:buChar char="•"/>
            </a:pPr>
            <a:r>
              <a:rPr lang="es-PE" sz="2300" b="1" i="1" dirty="0" err="1" smtClean="0"/>
              <a:t>Client</a:t>
            </a:r>
            <a:r>
              <a:rPr lang="es-PE" sz="2300" b="1" i="1" dirty="0" smtClean="0"/>
              <a:t> Interface</a:t>
            </a:r>
            <a:r>
              <a:rPr lang="es-PE" sz="2300" dirty="0" smtClean="0"/>
              <a:t>: Describe un protocolo que otras clases deben seguir para poder colaborar con el código cliente. </a:t>
            </a:r>
            <a:endParaRPr lang="es-PE" sz="2300" b="1" i="1" dirty="0" smtClean="0"/>
          </a:p>
          <a:p>
            <a:pPr marL="342900" indent="-342900">
              <a:buFont typeface="Arial" panose="020B0604020202020204" pitchFamily="34" charset="0"/>
              <a:buChar char="•"/>
            </a:pPr>
            <a:r>
              <a:rPr lang="es-PE" sz="2300" b="1" i="1" dirty="0" smtClean="0"/>
              <a:t>Cliente</a:t>
            </a:r>
            <a:r>
              <a:rPr lang="es-PE" sz="2300" b="1" i="1" dirty="0"/>
              <a:t>: </a:t>
            </a:r>
            <a:r>
              <a:rPr lang="es-PE" sz="2300" dirty="0" smtClean="0"/>
              <a:t>Contiene la lógica del negocio.</a:t>
            </a:r>
            <a:endParaRPr lang="es-PE" sz="2300" dirty="0"/>
          </a:p>
        </p:txBody>
      </p:sp>
      <p:sp>
        <p:nvSpPr>
          <p:cNvPr id="5" name="Rectángulo 4"/>
          <p:cNvSpPr/>
          <p:nvPr/>
        </p:nvSpPr>
        <p:spPr>
          <a:xfrm>
            <a:off x="205670" y="6484246"/>
            <a:ext cx="3645550" cy="261610"/>
          </a:xfrm>
          <a:prstGeom prst="rect">
            <a:avLst/>
          </a:prstGeom>
        </p:spPr>
        <p:txBody>
          <a:bodyPr wrap="none">
            <a:spAutoFit/>
          </a:bodyPr>
          <a:lstStyle/>
          <a:p>
            <a:r>
              <a:rPr lang="es-PE" sz="1100" i="1" dirty="0" smtClean="0"/>
              <a:t>Fuente: https</a:t>
            </a:r>
            <a:r>
              <a:rPr lang="es-PE" sz="1100" i="1" dirty="0"/>
              <a:t>://refactoring.guru/es/design-patterns/adapter</a:t>
            </a:r>
          </a:p>
        </p:txBody>
      </p:sp>
    </p:spTree>
    <p:extLst>
      <p:ext uri="{BB962C8B-B14F-4D97-AF65-F5344CB8AC3E}">
        <p14:creationId xmlns:p14="http://schemas.microsoft.com/office/powerpoint/2010/main" val="3834148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611752" y="3239927"/>
            <a:ext cx="2833386" cy="646896"/>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Ejemplo de patrón ADAPTER</a:t>
            </a:r>
            <a:endParaRPr lang="es-PE" sz="3600" b="1" dirty="0">
              <a:solidFill>
                <a:schemeClr val="accent1"/>
              </a:solidFill>
              <a:effectLst>
                <a:outerShdw blurRad="38100" dist="38100" dir="2700000" algn="tl">
                  <a:srgbClr val="000000">
                    <a:alpha val="43137"/>
                  </a:srgbClr>
                </a:outerShdw>
              </a:effectLst>
            </a:endParaRPr>
          </a:p>
        </p:txBody>
      </p:sp>
      <p:sp>
        <p:nvSpPr>
          <p:cNvPr id="6" name="Rectángulo 5"/>
          <p:cNvSpPr/>
          <p:nvPr/>
        </p:nvSpPr>
        <p:spPr>
          <a:xfrm>
            <a:off x="205670" y="6484246"/>
            <a:ext cx="3645550" cy="261610"/>
          </a:xfrm>
          <a:prstGeom prst="rect">
            <a:avLst/>
          </a:prstGeom>
        </p:spPr>
        <p:txBody>
          <a:bodyPr wrap="none">
            <a:spAutoFit/>
          </a:bodyPr>
          <a:lstStyle/>
          <a:p>
            <a:r>
              <a:rPr lang="es-PE" sz="1100" i="1" dirty="0" smtClean="0"/>
              <a:t>Fuente: https</a:t>
            </a:r>
            <a:r>
              <a:rPr lang="es-PE" sz="1100" i="1" dirty="0"/>
              <a:t>://refactoring.guru/es/design-patterns/adapter</a:t>
            </a:r>
          </a:p>
        </p:txBody>
      </p:sp>
      <p:pic>
        <p:nvPicPr>
          <p:cNvPr id="10" name="Imagen 9"/>
          <p:cNvPicPr>
            <a:picLocks noChangeAspect="1"/>
          </p:cNvPicPr>
          <p:nvPr/>
        </p:nvPicPr>
        <p:blipFill>
          <a:blip r:embed="rId3"/>
          <a:stretch>
            <a:fillRect/>
          </a:stretch>
        </p:blipFill>
        <p:spPr>
          <a:xfrm>
            <a:off x="3703897" y="1252432"/>
            <a:ext cx="8104127" cy="4477036"/>
          </a:xfrm>
          <a:prstGeom prst="rect">
            <a:avLst/>
          </a:prstGeom>
        </p:spPr>
      </p:pic>
    </p:spTree>
    <p:extLst>
      <p:ext uri="{BB962C8B-B14F-4D97-AF65-F5344CB8AC3E}">
        <p14:creationId xmlns:p14="http://schemas.microsoft.com/office/powerpoint/2010/main" val="17830183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42723" y="2563057"/>
            <a:ext cx="2543023" cy="1602543"/>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Ejemplo </a:t>
            </a:r>
            <a:br>
              <a:rPr lang="es-PE" sz="3600" b="1" dirty="0" smtClean="0">
                <a:solidFill>
                  <a:schemeClr val="accent1"/>
                </a:solidFill>
                <a:effectLst>
                  <a:outerShdw blurRad="38100" dist="38100" dir="2700000" algn="tl">
                    <a:srgbClr val="000000">
                      <a:alpha val="43137"/>
                    </a:srgbClr>
                  </a:outerShdw>
                </a:effectLst>
              </a:rPr>
            </a:br>
            <a:r>
              <a:rPr lang="es-PE" sz="3600" b="1" dirty="0" smtClean="0">
                <a:solidFill>
                  <a:schemeClr val="accent1"/>
                </a:solidFill>
                <a:effectLst>
                  <a:outerShdw blurRad="38100" dist="38100" dir="2700000" algn="tl">
                    <a:srgbClr val="000000">
                      <a:alpha val="43137"/>
                    </a:srgbClr>
                  </a:outerShdw>
                </a:effectLst>
              </a:rPr>
              <a:t>de patrón ADAPTER</a:t>
            </a:r>
            <a:endParaRPr lang="es-PE" sz="3600" b="1" dirty="0">
              <a:solidFill>
                <a:schemeClr val="accent1"/>
              </a:solidFill>
              <a:effectLst>
                <a:outerShdw blurRad="38100" dist="38100" dir="2700000" algn="tl">
                  <a:srgbClr val="000000">
                    <a:alpha val="43137"/>
                  </a:srgbClr>
                </a:outerShdw>
              </a:effectLst>
            </a:endParaRPr>
          </a:p>
        </p:txBody>
      </p:sp>
      <p:sp>
        <p:nvSpPr>
          <p:cNvPr id="9" name="Rectángulo 8"/>
          <p:cNvSpPr/>
          <p:nvPr/>
        </p:nvSpPr>
        <p:spPr>
          <a:xfrm>
            <a:off x="342724" y="4570870"/>
            <a:ext cx="2631970" cy="923330"/>
          </a:xfrm>
          <a:prstGeom prst="rect">
            <a:avLst/>
          </a:prstGeom>
        </p:spPr>
        <p:txBody>
          <a:bodyPr wrap="square">
            <a:spAutoFit/>
          </a:bodyPr>
          <a:lstStyle/>
          <a:p>
            <a:r>
              <a:rPr lang="es-PE" dirty="0" smtClean="0"/>
              <a:t>Adaptando piezas cuadradas a agujeros redondos</a:t>
            </a:r>
            <a:endParaRPr lang="es-PE" dirty="0"/>
          </a:p>
        </p:txBody>
      </p:sp>
      <p:sp>
        <p:nvSpPr>
          <p:cNvPr id="11" name="Rectángulo 10"/>
          <p:cNvSpPr/>
          <p:nvPr/>
        </p:nvSpPr>
        <p:spPr>
          <a:xfrm>
            <a:off x="205670" y="6484246"/>
            <a:ext cx="3645550" cy="261610"/>
          </a:xfrm>
          <a:prstGeom prst="rect">
            <a:avLst/>
          </a:prstGeom>
        </p:spPr>
        <p:txBody>
          <a:bodyPr wrap="none">
            <a:spAutoFit/>
          </a:bodyPr>
          <a:lstStyle/>
          <a:p>
            <a:r>
              <a:rPr lang="es-PE" sz="1100" i="1" dirty="0" smtClean="0"/>
              <a:t>Fuente: https</a:t>
            </a:r>
            <a:r>
              <a:rPr lang="es-PE" sz="1100" i="1" dirty="0"/>
              <a:t>://refactoring.guru/es/design-patterns/adapter</a:t>
            </a:r>
          </a:p>
        </p:txBody>
      </p:sp>
      <p:pic>
        <p:nvPicPr>
          <p:cNvPr id="2" name="Imagen 1"/>
          <p:cNvPicPr>
            <a:picLocks noChangeAspect="1"/>
          </p:cNvPicPr>
          <p:nvPr/>
        </p:nvPicPr>
        <p:blipFill>
          <a:blip r:embed="rId3"/>
          <a:stretch>
            <a:fillRect/>
          </a:stretch>
        </p:blipFill>
        <p:spPr>
          <a:xfrm>
            <a:off x="3596577" y="1279497"/>
            <a:ext cx="8039100" cy="4848225"/>
          </a:xfrm>
          <a:prstGeom prst="rect">
            <a:avLst/>
          </a:prstGeom>
        </p:spPr>
      </p:pic>
    </p:spTree>
    <p:extLst>
      <p:ext uri="{BB962C8B-B14F-4D97-AF65-F5344CB8AC3E}">
        <p14:creationId xmlns:p14="http://schemas.microsoft.com/office/powerpoint/2010/main" val="9954755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452521" y="1366436"/>
            <a:ext cx="4292301"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Ventajas</a:t>
            </a:r>
            <a:endParaRPr lang="es-PE" sz="3600" b="1" dirty="0">
              <a:solidFill>
                <a:schemeClr val="accent1"/>
              </a:solidFill>
              <a:effectLst>
                <a:outerShdw blurRad="38100" dist="38100" dir="2700000" algn="tl">
                  <a:srgbClr val="000000">
                    <a:alpha val="43137"/>
                  </a:srgbClr>
                </a:outerShdw>
              </a:effectLst>
            </a:endParaRPr>
          </a:p>
        </p:txBody>
      </p:sp>
      <p:sp>
        <p:nvSpPr>
          <p:cNvPr id="3" name="Rectángulo 2"/>
          <p:cNvSpPr/>
          <p:nvPr/>
        </p:nvSpPr>
        <p:spPr>
          <a:xfrm>
            <a:off x="531543" y="2061932"/>
            <a:ext cx="10836368" cy="1785104"/>
          </a:xfrm>
          <a:prstGeom prst="rect">
            <a:avLst/>
          </a:prstGeom>
        </p:spPr>
        <p:txBody>
          <a:bodyPr wrap="square">
            <a:spAutoFit/>
          </a:bodyPr>
          <a:lstStyle/>
          <a:p>
            <a:pPr marL="342900" indent="-342900">
              <a:buFont typeface="Arial" panose="020B0604020202020204" pitchFamily="34" charset="0"/>
              <a:buChar char="•"/>
            </a:pPr>
            <a:r>
              <a:rPr lang="es-PE" sz="2200" dirty="0" smtClean="0"/>
              <a:t>Se puede utilizar cuando se desee utilizar una clase existente, pero cuya </a:t>
            </a:r>
            <a:r>
              <a:rPr lang="es-PE" sz="2200" b="1" dirty="0" smtClean="0">
                <a:solidFill>
                  <a:schemeClr val="accent5"/>
                </a:solidFill>
              </a:rPr>
              <a:t>interfaz no sea compatible</a:t>
            </a:r>
            <a:r>
              <a:rPr lang="es-PE" sz="2200" b="1" dirty="0" smtClean="0"/>
              <a:t> </a:t>
            </a:r>
            <a:r>
              <a:rPr lang="es-PE" sz="2200" dirty="0" smtClean="0"/>
              <a:t>con el resto del código. Separa la interfaz de la lógica del negocio primaria.</a:t>
            </a:r>
          </a:p>
          <a:p>
            <a:pPr marL="342900" indent="-342900">
              <a:buFont typeface="Arial" panose="020B0604020202020204" pitchFamily="34" charset="0"/>
              <a:buChar char="•"/>
            </a:pPr>
            <a:r>
              <a:rPr lang="es-PE" sz="2200" dirty="0" smtClean="0"/>
              <a:t>Sirve para </a:t>
            </a:r>
            <a:r>
              <a:rPr lang="es-PE" sz="2200" b="1" dirty="0" smtClean="0">
                <a:solidFill>
                  <a:schemeClr val="accent5"/>
                </a:solidFill>
              </a:rPr>
              <a:t>reutilizar </a:t>
            </a:r>
            <a:r>
              <a:rPr lang="es-PE" sz="2200" dirty="0" smtClean="0"/>
              <a:t>varias subclases existentes.</a:t>
            </a:r>
          </a:p>
          <a:p>
            <a:pPr marL="342900" indent="-342900">
              <a:buFont typeface="Arial" panose="020B0604020202020204" pitchFamily="34" charset="0"/>
              <a:buChar char="•"/>
            </a:pPr>
            <a:r>
              <a:rPr lang="es-PE" sz="2200" dirty="0" smtClean="0"/>
              <a:t>Introduce </a:t>
            </a:r>
            <a:r>
              <a:rPr lang="es-PE" sz="2200" b="1" dirty="0" smtClean="0"/>
              <a:t>nuevos</a:t>
            </a:r>
            <a:r>
              <a:rPr lang="es-PE" sz="2200" dirty="0" smtClean="0"/>
              <a:t> tipos de </a:t>
            </a:r>
            <a:r>
              <a:rPr lang="es-PE" sz="2200" b="1" dirty="0" smtClean="0"/>
              <a:t>adaptadores</a:t>
            </a:r>
            <a:r>
              <a:rPr lang="es-PE" sz="2200" dirty="0" smtClean="0"/>
              <a:t> sin descomponer el código existente, siempre que trabajen a través de la interfaz.</a:t>
            </a:r>
            <a:endParaRPr lang="es-PE" sz="2200" dirty="0"/>
          </a:p>
        </p:txBody>
      </p:sp>
      <p:sp>
        <p:nvSpPr>
          <p:cNvPr id="6" name="Rectángulo 5"/>
          <p:cNvSpPr/>
          <p:nvPr/>
        </p:nvSpPr>
        <p:spPr>
          <a:xfrm>
            <a:off x="205670" y="6484246"/>
            <a:ext cx="3645550" cy="261610"/>
          </a:xfrm>
          <a:prstGeom prst="rect">
            <a:avLst/>
          </a:prstGeom>
        </p:spPr>
        <p:txBody>
          <a:bodyPr wrap="none">
            <a:spAutoFit/>
          </a:bodyPr>
          <a:lstStyle/>
          <a:p>
            <a:r>
              <a:rPr lang="es-PE" sz="1100" i="1" dirty="0" smtClean="0"/>
              <a:t>Fuente: https</a:t>
            </a:r>
            <a:r>
              <a:rPr lang="es-PE" sz="1100" i="1" dirty="0"/>
              <a:t>://refactoring.guru/es/design-patterns/adapter</a:t>
            </a:r>
          </a:p>
        </p:txBody>
      </p:sp>
    </p:spTree>
    <p:extLst>
      <p:ext uri="{BB962C8B-B14F-4D97-AF65-F5344CB8AC3E}">
        <p14:creationId xmlns:p14="http://schemas.microsoft.com/office/powerpoint/2010/main" val="29971597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3"/>
          <a:stretch>
            <a:fillRect/>
          </a:stretch>
        </p:blipFill>
        <p:spPr>
          <a:xfrm>
            <a:off x="7098597" y="4082055"/>
            <a:ext cx="4638675" cy="1962150"/>
          </a:xfrm>
          <a:prstGeom prst="rect">
            <a:avLst/>
          </a:prstGeom>
        </p:spPr>
      </p:pic>
      <p:sp>
        <p:nvSpPr>
          <p:cNvPr id="5" name="Título 1"/>
          <p:cNvSpPr>
            <a:spLocks noGrp="1"/>
          </p:cNvSpPr>
          <p:nvPr>
            <p:ph type="title"/>
          </p:nvPr>
        </p:nvSpPr>
        <p:spPr>
          <a:xfrm>
            <a:off x="484094" y="1301574"/>
            <a:ext cx="7801950"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DECORATOR (</a:t>
            </a:r>
            <a:r>
              <a:rPr lang="es-PE" sz="3600" b="1" dirty="0" err="1" smtClean="0">
                <a:solidFill>
                  <a:schemeClr val="accent1"/>
                </a:solidFill>
                <a:effectLst>
                  <a:outerShdw blurRad="38100" dist="38100" dir="2700000" algn="tl">
                    <a:srgbClr val="000000">
                      <a:alpha val="43137"/>
                    </a:srgbClr>
                  </a:outerShdw>
                </a:effectLst>
              </a:rPr>
              <a:t>wrapper</a:t>
            </a:r>
            <a:r>
              <a:rPr lang="es-PE" sz="3600" b="1" dirty="0" smtClean="0">
                <a:solidFill>
                  <a:schemeClr val="accent1"/>
                </a:solidFill>
                <a:effectLst>
                  <a:outerShdw blurRad="38100" dist="38100" dir="2700000" algn="tl">
                    <a:srgbClr val="000000">
                      <a:alpha val="43137"/>
                    </a:srgbClr>
                  </a:outerShdw>
                </a:effectLst>
              </a:rPr>
              <a:t>)</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347240" y="2274769"/>
            <a:ext cx="8310623" cy="26907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Permite añadir </a:t>
            </a:r>
            <a:r>
              <a:rPr lang="es-PE" b="1" dirty="0" smtClean="0">
                <a:solidFill>
                  <a:schemeClr val="accent5"/>
                </a:solidFill>
              </a:rPr>
              <a:t>funcionalidades</a:t>
            </a:r>
            <a:r>
              <a:rPr lang="es-PE" dirty="0" smtClean="0"/>
              <a:t> a objetos colocando a éstos dentro de otros </a:t>
            </a:r>
            <a:r>
              <a:rPr lang="es-PE" b="1" dirty="0" smtClean="0">
                <a:solidFill>
                  <a:schemeClr val="accent5"/>
                </a:solidFill>
              </a:rPr>
              <a:t>objetos encapsuladores</a:t>
            </a:r>
            <a:r>
              <a:rPr lang="es-PE" dirty="0" smtClean="0"/>
              <a:t>.</a:t>
            </a:r>
            <a:endParaRPr lang="es-PE" dirty="0"/>
          </a:p>
          <a:p>
            <a:r>
              <a:rPr lang="es-PE" dirty="0" smtClean="0"/>
              <a:t>Un </a:t>
            </a:r>
            <a:r>
              <a:rPr lang="es-PE" b="1" i="1" dirty="0" err="1" smtClean="0"/>
              <a:t>wrapper</a:t>
            </a:r>
            <a:r>
              <a:rPr lang="es-PE" dirty="0" smtClean="0"/>
              <a:t> es un objeto que puede vincularse a un objeto objetivo y va a </a:t>
            </a:r>
            <a:r>
              <a:rPr lang="es-PE" b="1" dirty="0" smtClean="0"/>
              <a:t>contener el mismo grupo de métodos</a:t>
            </a:r>
            <a:r>
              <a:rPr lang="es-PE" dirty="0" smtClean="0"/>
              <a:t> y le delega todas las solicitudes que recibe.</a:t>
            </a:r>
            <a:endParaRPr lang="es-PE" dirty="0"/>
          </a:p>
        </p:txBody>
      </p:sp>
      <p:pic>
        <p:nvPicPr>
          <p:cNvPr id="3" name="Imagen 2"/>
          <p:cNvPicPr>
            <a:picLocks noChangeAspect="1"/>
          </p:cNvPicPr>
          <p:nvPr/>
        </p:nvPicPr>
        <p:blipFill>
          <a:blip r:embed="rId4"/>
          <a:stretch>
            <a:fillRect/>
          </a:stretch>
        </p:blipFill>
        <p:spPr>
          <a:xfrm>
            <a:off x="9606898" y="1372121"/>
            <a:ext cx="2215743" cy="1741470"/>
          </a:xfrm>
          <a:prstGeom prst="rect">
            <a:avLst/>
          </a:prstGeom>
        </p:spPr>
      </p:pic>
      <p:sp>
        <p:nvSpPr>
          <p:cNvPr id="8" name="Rectángulo 7"/>
          <p:cNvSpPr/>
          <p:nvPr/>
        </p:nvSpPr>
        <p:spPr>
          <a:xfrm>
            <a:off x="205670" y="6484246"/>
            <a:ext cx="3752950" cy="261610"/>
          </a:xfrm>
          <a:prstGeom prst="rect">
            <a:avLst/>
          </a:prstGeom>
        </p:spPr>
        <p:txBody>
          <a:bodyPr wrap="none">
            <a:spAutoFit/>
          </a:bodyPr>
          <a:lstStyle/>
          <a:p>
            <a:r>
              <a:rPr lang="es-PE" sz="1100" i="1" dirty="0" smtClean="0"/>
              <a:t>Fuente: https</a:t>
            </a:r>
            <a:r>
              <a:rPr lang="es-PE" sz="1100" i="1" dirty="0"/>
              <a:t>://refactoring.guru/es/design-patterns/decorator</a:t>
            </a:r>
          </a:p>
        </p:txBody>
      </p:sp>
    </p:spTree>
    <p:extLst>
      <p:ext uri="{BB962C8B-B14F-4D97-AF65-F5344CB8AC3E}">
        <p14:creationId xmlns:p14="http://schemas.microsoft.com/office/powerpoint/2010/main" val="3234243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84788" y="1603502"/>
            <a:ext cx="4292301"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Participantes</a:t>
            </a:r>
            <a:endParaRPr lang="es-PE" sz="3600" b="1" dirty="0">
              <a:solidFill>
                <a:schemeClr val="accent1"/>
              </a:solidFill>
              <a:effectLst>
                <a:outerShdw blurRad="38100" dist="38100" dir="2700000" algn="tl">
                  <a:srgbClr val="000000">
                    <a:alpha val="43137"/>
                  </a:srgbClr>
                </a:outerShdw>
              </a:effectLst>
            </a:endParaRPr>
          </a:p>
        </p:txBody>
      </p:sp>
      <p:sp>
        <p:nvSpPr>
          <p:cNvPr id="3" name="Rectángulo 2"/>
          <p:cNvSpPr/>
          <p:nvPr/>
        </p:nvSpPr>
        <p:spPr>
          <a:xfrm>
            <a:off x="599276" y="2291731"/>
            <a:ext cx="11068005" cy="3631763"/>
          </a:xfrm>
          <a:prstGeom prst="rect">
            <a:avLst/>
          </a:prstGeom>
        </p:spPr>
        <p:txBody>
          <a:bodyPr wrap="square">
            <a:spAutoFit/>
          </a:bodyPr>
          <a:lstStyle/>
          <a:p>
            <a:pPr marL="342900" indent="-342900">
              <a:buFont typeface="Arial" panose="020B0604020202020204" pitchFamily="34" charset="0"/>
              <a:buChar char="•"/>
            </a:pPr>
            <a:r>
              <a:rPr lang="es-PE" sz="2300" b="1" i="1" dirty="0" err="1" smtClean="0"/>
              <a:t>Component</a:t>
            </a:r>
            <a:r>
              <a:rPr lang="es-PE" sz="2300" dirty="0" smtClean="0"/>
              <a:t>: Declara la </a:t>
            </a:r>
            <a:r>
              <a:rPr lang="es-PE" sz="2300" b="1" dirty="0" smtClean="0"/>
              <a:t>interfaz común </a:t>
            </a:r>
            <a:r>
              <a:rPr lang="es-PE" sz="2300" dirty="0" smtClean="0"/>
              <a:t>para los </a:t>
            </a:r>
            <a:r>
              <a:rPr lang="es-PE" sz="2300" b="1" dirty="0" err="1" smtClean="0"/>
              <a:t>wrappers</a:t>
            </a:r>
            <a:r>
              <a:rPr lang="es-PE" sz="2300" b="1" dirty="0" smtClean="0"/>
              <a:t> </a:t>
            </a:r>
            <a:r>
              <a:rPr lang="es-PE" sz="2300" dirty="0" smtClean="0"/>
              <a:t>y los </a:t>
            </a:r>
            <a:r>
              <a:rPr lang="es-PE" sz="2300" b="1" dirty="0" smtClean="0"/>
              <a:t>objetos envueltos</a:t>
            </a:r>
          </a:p>
          <a:p>
            <a:pPr marL="342900" indent="-342900">
              <a:buFont typeface="Arial" panose="020B0604020202020204" pitchFamily="34" charset="0"/>
              <a:buChar char="•"/>
            </a:pPr>
            <a:r>
              <a:rPr lang="es-PE" sz="2300" b="1" i="1" dirty="0" err="1" smtClean="0"/>
              <a:t>ConcreteComponent</a:t>
            </a:r>
            <a:r>
              <a:rPr lang="es-PE" sz="2300" dirty="0" smtClean="0"/>
              <a:t>: Clase de </a:t>
            </a:r>
            <a:r>
              <a:rPr lang="es-PE" sz="2300" b="1" dirty="0" smtClean="0"/>
              <a:t>objetos envueltos</a:t>
            </a:r>
            <a:r>
              <a:rPr lang="es-PE" sz="2300" dirty="0" smtClean="0"/>
              <a:t>. Define el </a:t>
            </a:r>
            <a:r>
              <a:rPr lang="es-PE" sz="2300" b="1" dirty="0" smtClean="0">
                <a:solidFill>
                  <a:schemeClr val="accent5"/>
                </a:solidFill>
              </a:rPr>
              <a:t>comportamiento básico </a:t>
            </a:r>
            <a:r>
              <a:rPr lang="es-PE" sz="2300" dirty="0" smtClean="0"/>
              <a:t>que los decoradores pueden modificar.</a:t>
            </a:r>
            <a:endParaRPr lang="es-PE" sz="2300" b="1" i="1" dirty="0" smtClean="0"/>
          </a:p>
          <a:p>
            <a:pPr marL="342900" indent="-342900">
              <a:buFont typeface="Arial" panose="020B0604020202020204" pitchFamily="34" charset="0"/>
              <a:buChar char="•"/>
            </a:pPr>
            <a:r>
              <a:rPr lang="es-PE" sz="2300" b="1" i="1" dirty="0" err="1" smtClean="0"/>
              <a:t>BaseDecorator</a:t>
            </a:r>
            <a:r>
              <a:rPr lang="es-PE" sz="2300" dirty="0" smtClean="0"/>
              <a:t>: Referencia a un objeto envuelto y </a:t>
            </a:r>
            <a:r>
              <a:rPr lang="es-PE" sz="2300" b="1" dirty="0" smtClean="0"/>
              <a:t>delega </a:t>
            </a:r>
            <a:r>
              <a:rPr lang="es-PE" sz="2300" dirty="0" smtClean="0"/>
              <a:t>todas las </a:t>
            </a:r>
            <a:r>
              <a:rPr lang="es-PE" sz="2300" b="1" dirty="0" smtClean="0"/>
              <a:t>operaciones </a:t>
            </a:r>
            <a:r>
              <a:rPr lang="es-PE" sz="2300" dirty="0" smtClean="0"/>
              <a:t>al objeto envuelto.</a:t>
            </a:r>
            <a:endParaRPr lang="es-PE" sz="2300" b="1" i="1" dirty="0" smtClean="0"/>
          </a:p>
          <a:p>
            <a:pPr marL="342900" indent="-342900">
              <a:buFont typeface="Arial" panose="020B0604020202020204" pitchFamily="34" charset="0"/>
              <a:buChar char="•"/>
            </a:pPr>
            <a:r>
              <a:rPr lang="es-PE" sz="2300" b="1" i="1" dirty="0" err="1" smtClean="0"/>
              <a:t>ConcreteDecorator</a:t>
            </a:r>
            <a:r>
              <a:rPr lang="es-PE" sz="2300" dirty="0" smtClean="0"/>
              <a:t>: Definen funcionalidades adicionales que se pueden añadir a los componentes. </a:t>
            </a:r>
            <a:r>
              <a:rPr lang="es-PE" sz="2300" dirty="0" err="1" smtClean="0"/>
              <a:t>Sobreescriben</a:t>
            </a:r>
            <a:r>
              <a:rPr lang="es-PE" sz="2300" dirty="0" smtClean="0"/>
              <a:t> métodos de </a:t>
            </a:r>
            <a:r>
              <a:rPr lang="es-PE" sz="2300" dirty="0" err="1" smtClean="0"/>
              <a:t>BaseDecorator</a:t>
            </a:r>
            <a:r>
              <a:rPr lang="es-PE" sz="2300" dirty="0" smtClean="0"/>
              <a:t> y ejecutan su comportamiento.</a:t>
            </a:r>
            <a:endParaRPr lang="es-PE" sz="2300" b="1" i="1" dirty="0" smtClean="0"/>
          </a:p>
          <a:p>
            <a:pPr marL="342900" indent="-342900">
              <a:buFont typeface="Arial" panose="020B0604020202020204" pitchFamily="34" charset="0"/>
              <a:buChar char="•"/>
            </a:pPr>
            <a:r>
              <a:rPr lang="es-PE" sz="2300" b="1" i="1" dirty="0" smtClean="0"/>
              <a:t>Cliente</a:t>
            </a:r>
            <a:r>
              <a:rPr lang="es-PE" sz="2300" b="1" i="1" dirty="0"/>
              <a:t>: </a:t>
            </a:r>
            <a:r>
              <a:rPr lang="es-PE" sz="2300" dirty="0" smtClean="0"/>
              <a:t>Puede envolver componentes en varias capas, siempre que se trabaje a través de la clase </a:t>
            </a:r>
            <a:r>
              <a:rPr lang="es-PE" sz="2300" dirty="0" err="1" smtClean="0"/>
              <a:t>Component</a:t>
            </a:r>
            <a:r>
              <a:rPr lang="es-PE" sz="2300" dirty="0" smtClean="0"/>
              <a:t>.</a:t>
            </a:r>
            <a:endParaRPr lang="es-PE" sz="2300" dirty="0"/>
          </a:p>
          <a:p>
            <a:pPr marL="342900" indent="-342900">
              <a:buFont typeface="Arial" panose="020B0604020202020204" pitchFamily="34" charset="0"/>
              <a:buChar char="•"/>
            </a:pPr>
            <a:endParaRPr lang="es-PE" sz="2300" dirty="0"/>
          </a:p>
        </p:txBody>
      </p:sp>
      <p:sp>
        <p:nvSpPr>
          <p:cNvPr id="5" name="Rectángulo 4"/>
          <p:cNvSpPr/>
          <p:nvPr/>
        </p:nvSpPr>
        <p:spPr>
          <a:xfrm>
            <a:off x="205670" y="6484246"/>
            <a:ext cx="3752950" cy="261610"/>
          </a:xfrm>
          <a:prstGeom prst="rect">
            <a:avLst/>
          </a:prstGeom>
        </p:spPr>
        <p:txBody>
          <a:bodyPr wrap="none">
            <a:spAutoFit/>
          </a:bodyPr>
          <a:lstStyle/>
          <a:p>
            <a:r>
              <a:rPr lang="es-PE" sz="1100" i="1" dirty="0" smtClean="0"/>
              <a:t>Fuente: https</a:t>
            </a:r>
            <a:r>
              <a:rPr lang="es-PE" sz="1100" i="1" dirty="0"/>
              <a:t>://refactoring.guru/es/design-patterns/decorator</a:t>
            </a:r>
          </a:p>
        </p:txBody>
      </p:sp>
    </p:spTree>
    <p:extLst>
      <p:ext uri="{BB962C8B-B14F-4D97-AF65-F5344CB8AC3E}">
        <p14:creationId xmlns:p14="http://schemas.microsoft.com/office/powerpoint/2010/main" val="27498403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42723" y="2563057"/>
            <a:ext cx="2446776" cy="1602543"/>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Ejemplo </a:t>
            </a:r>
            <a:br>
              <a:rPr lang="es-PE" sz="3600" b="1" dirty="0" smtClean="0">
                <a:solidFill>
                  <a:schemeClr val="accent1"/>
                </a:solidFill>
                <a:effectLst>
                  <a:outerShdw blurRad="38100" dist="38100" dir="2700000" algn="tl">
                    <a:srgbClr val="000000">
                      <a:alpha val="43137"/>
                    </a:srgbClr>
                  </a:outerShdw>
                </a:effectLst>
              </a:rPr>
            </a:br>
            <a:r>
              <a:rPr lang="es-PE" sz="3600" b="1" dirty="0" smtClean="0">
                <a:solidFill>
                  <a:schemeClr val="accent1"/>
                </a:solidFill>
                <a:effectLst>
                  <a:outerShdw blurRad="38100" dist="38100" dir="2700000" algn="tl">
                    <a:srgbClr val="000000">
                      <a:alpha val="43137"/>
                    </a:srgbClr>
                  </a:outerShdw>
                </a:effectLst>
              </a:rPr>
              <a:t>de patrón DECORATOR</a:t>
            </a:r>
            <a:endParaRPr lang="es-PE" sz="3600" b="1" dirty="0">
              <a:solidFill>
                <a:schemeClr val="accent1"/>
              </a:solidFill>
              <a:effectLst>
                <a:outerShdw blurRad="38100" dist="38100" dir="2700000" algn="tl">
                  <a:srgbClr val="000000">
                    <a:alpha val="43137"/>
                  </a:srgbClr>
                </a:outerShdw>
              </a:effectLst>
            </a:endParaRPr>
          </a:p>
        </p:txBody>
      </p:sp>
      <p:sp>
        <p:nvSpPr>
          <p:cNvPr id="4" name="Rectángulo 3"/>
          <p:cNvSpPr/>
          <p:nvPr/>
        </p:nvSpPr>
        <p:spPr>
          <a:xfrm>
            <a:off x="205670" y="6484246"/>
            <a:ext cx="3752950" cy="261610"/>
          </a:xfrm>
          <a:prstGeom prst="rect">
            <a:avLst/>
          </a:prstGeom>
        </p:spPr>
        <p:txBody>
          <a:bodyPr wrap="none">
            <a:spAutoFit/>
          </a:bodyPr>
          <a:lstStyle/>
          <a:p>
            <a:r>
              <a:rPr lang="es-PE" sz="1100" i="1" dirty="0" smtClean="0"/>
              <a:t>Fuente: https</a:t>
            </a:r>
            <a:r>
              <a:rPr lang="es-PE" sz="1100" i="1" dirty="0"/>
              <a:t>://refactoring.guru/es/design-patterns/decorator</a:t>
            </a:r>
          </a:p>
        </p:txBody>
      </p:sp>
      <p:pic>
        <p:nvPicPr>
          <p:cNvPr id="9" name="Imagen 8"/>
          <p:cNvPicPr>
            <a:picLocks noChangeAspect="1"/>
          </p:cNvPicPr>
          <p:nvPr/>
        </p:nvPicPr>
        <p:blipFill>
          <a:blip r:embed="rId3"/>
          <a:stretch>
            <a:fillRect/>
          </a:stretch>
        </p:blipFill>
        <p:spPr>
          <a:xfrm>
            <a:off x="4415803" y="1132890"/>
            <a:ext cx="4751348" cy="5093445"/>
          </a:xfrm>
          <a:prstGeom prst="rect">
            <a:avLst/>
          </a:prstGeom>
        </p:spPr>
      </p:pic>
    </p:spTree>
    <p:extLst>
      <p:ext uri="{BB962C8B-B14F-4D97-AF65-F5344CB8AC3E}">
        <p14:creationId xmlns:p14="http://schemas.microsoft.com/office/powerpoint/2010/main" val="34909113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42723" y="2563057"/>
            <a:ext cx="2543023" cy="1602543"/>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Ejemplo </a:t>
            </a:r>
            <a:br>
              <a:rPr lang="es-PE" sz="3600" b="1" dirty="0" smtClean="0">
                <a:solidFill>
                  <a:schemeClr val="accent1"/>
                </a:solidFill>
                <a:effectLst>
                  <a:outerShdw blurRad="38100" dist="38100" dir="2700000" algn="tl">
                    <a:srgbClr val="000000">
                      <a:alpha val="43137"/>
                    </a:srgbClr>
                  </a:outerShdw>
                </a:effectLst>
              </a:rPr>
            </a:br>
            <a:r>
              <a:rPr lang="es-PE" sz="3600" b="1" dirty="0" smtClean="0">
                <a:solidFill>
                  <a:schemeClr val="accent1"/>
                </a:solidFill>
                <a:effectLst>
                  <a:outerShdw blurRad="38100" dist="38100" dir="2700000" algn="tl">
                    <a:srgbClr val="000000">
                      <a:alpha val="43137"/>
                    </a:srgbClr>
                  </a:outerShdw>
                </a:effectLst>
              </a:rPr>
              <a:t>de patrón DECORATOR</a:t>
            </a:r>
            <a:endParaRPr lang="es-PE" sz="3600" b="1" dirty="0">
              <a:solidFill>
                <a:schemeClr val="accent1"/>
              </a:solidFill>
              <a:effectLst>
                <a:outerShdw blurRad="38100" dist="38100" dir="2700000" algn="tl">
                  <a:srgbClr val="000000">
                    <a:alpha val="43137"/>
                  </a:srgbClr>
                </a:outerShdw>
              </a:effectLst>
            </a:endParaRPr>
          </a:p>
        </p:txBody>
      </p:sp>
      <p:sp>
        <p:nvSpPr>
          <p:cNvPr id="11" name="Rectángulo 10"/>
          <p:cNvSpPr/>
          <p:nvPr/>
        </p:nvSpPr>
        <p:spPr>
          <a:xfrm>
            <a:off x="205670" y="6484246"/>
            <a:ext cx="3752950" cy="261610"/>
          </a:xfrm>
          <a:prstGeom prst="rect">
            <a:avLst/>
          </a:prstGeom>
        </p:spPr>
        <p:txBody>
          <a:bodyPr wrap="none">
            <a:spAutoFit/>
          </a:bodyPr>
          <a:lstStyle/>
          <a:p>
            <a:r>
              <a:rPr lang="es-PE" sz="1100" i="1" dirty="0" smtClean="0"/>
              <a:t>Fuente: https</a:t>
            </a:r>
            <a:r>
              <a:rPr lang="es-PE" sz="1100" i="1" dirty="0"/>
              <a:t>://refactoring.guru/es/design-patterns/decorator</a:t>
            </a:r>
          </a:p>
        </p:txBody>
      </p:sp>
      <p:pic>
        <p:nvPicPr>
          <p:cNvPr id="4" name="Imagen 3"/>
          <p:cNvPicPr>
            <a:picLocks noChangeAspect="1"/>
          </p:cNvPicPr>
          <p:nvPr/>
        </p:nvPicPr>
        <p:blipFill>
          <a:blip r:embed="rId3"/>
          <a:stretch>
            <a:fillRect/>
          </a:stretch>
        </p:blipFill>
        <p:spPr>
          <a:xfrm>
            <a:off x="4322783" y="1053297"/>
            <a:ext cx="5141458" cy="5215118"/>
          </a:xfrm>
          <a:prstGeom prst="rect">
            <a:avLst/>
          </a:prstGeom>
        </p:spPr>
      </p:pic>
      <p:sp>
        <p:nvSpPr>
          <p:cNvPr id="5" name="Rectángulo 4"/>
          <p:cNvSpPr/>
          <p:nvPr/>
        </p:nvSpPr>
        <p:spPr>
          <a:xfrm>
            <a:off x="555259" y="4955591"/>
            <a:ext cx="3194937" cy="646331"/>
          </a:xfrm>
          <a:prstGeom prst="rect">
            <a:avLst/>
          </a:prstGeom>
        </p:spPr>
        <p:txBody>
          <a:bodyPr wrap="square">
            <a:spAutoFit/>
          </a:bodyPr>
          <a:lstStyle/>
          <a:p>
            <a:r>
              <a:rPr lang="es-PE" i="1" dirty="0">
                <a:solidFill>
                  <a:srgbClr val="999999"/>
                </a:solidFill>
                <a:latin typeface="PT Sans"/>
              </a:rPr>
              <a:t>Ejemplo de la encriptación y compresión de decoradores.</a:t>
            </a:r>
            <a:endParaRPr lang="es-PE" dirty="0"/>
          </a:p>
        </p:txBody>
      </p:sp>
    </p:spTree>
    <p:extLst>
      <p:ext uri="{BB962C8B-B14F-4D97-AF65-F5344CB8AC3E}">
        <p14:creationId xmlns:p14="http://schemas.microsoft.com/office/powerpoint/2010/main" val="16451508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452521" y="1366436"/>
            <a:ext cx="4292301"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Ventajas</a:t>
            </a:r>
            <a:endParaRPr lang="es-PE" sz="3600" b="1" dirty="0">
              <a:solidFill>
                <a:schemeClr val="accent1"/>
              </a:solidFill>
              <a:effectLst>
                <a:outerShdw blurRad="38100" dist="38100" dir="2700000" algn="tl">
                  <a:srgbClr val="000000">
                    <a:alpha val="43137"/>
                  </a:srgbClr>
                </a:outerShdw>
              </a:effectLst>
            </a:endParaRPr>
          </a:p>
        </p:txBody>
      </p:sp>
      <p:sp>
        <p:nvSpPr>
          <p:cNvPr id="3" name="Rectángulo 2"/>
          <p:cNvSpPr/>
          <p:nvPr/>
        </p:nvSpPr>
        <p:spPr>
          <a:xfrm>
            <a:off x="531543" y="2061932"/>
            <a:ext cx="10836368" cy="1107996"/>
          </a:xfrm>
          <a:prstGeom prst="rect">
            <a:avLst/>
          </a:prstGeom>
        </p:spPr>
        <p:txBody>
          <a:bodyPr wrap="square">
            <a:spAutoFit/>
          </a:bodyPr>
          <a:lstStyle/>
          <a:p>
            <a:pPr marL="342900" indent="-342900">
              <a:buFont typeface="Arial" panose="020B0604020202020204" pitchFamily="34" charset="0"/>
              <a:buChar char="•"/>
            </a:pPr>
            <a:r>
              <a:rPr lang="es-PE" sz="2200" dirty="0" smtClean="0"/>
              <a:t>Podríamos </a:t>
            </a:r>
            <a:r>
              <a:rPr lang="es-PE" sz="2200" b="1" dirty="0" smtClean="0">
                <a:solidFill>
                  <a:schemeClr val="accent5"/>
                </a:solidFill>
              </a:rPr>
              <a:t>extender </a:t>
            </a:r>
            <a:r>
              <a:rPr lang="es-PE" sz="2200" dirty="0" smtClean="0"/>
              <a:t>el comportamiento de un objeto </a:t>
            </a:r>
            <a:r>
              <a:rPr lang="es-PE" sz="2200" b="1" dirty="0" smtClean="0">
                <a:solidFill>
                  <a:schemeClr val="accent5"/>
                </a:solidFill>
              </a:rPr>
              <a:t>sin crear nuevas subclases</a:t>
            </a:r>
            <a:r>
              <a:rPr lang="es-PE" sz="2200" dirty="0" smtClean="0"/>
              <a:t>.</a:t>
            </a:r>
          </a:p>
          <a:p>
            <a:pPr marL="342900" indent="-342900">
              <a:buFont typeface="Arial" panose="020B0604020202020204" pitchFamily="34" charset="0"/>
              <a:buChar char="•"/>
            </a:pPr>
            <a:r>
              <a:rPr lang="es-PE" sz="2200" b="1" dirty="0" smtClean="0"/>
              <a:t>Añadir o eliminar responsabilidades en tiempo de ejecución</a:t>
            </a:r>
            <a:r>
              <a:rPr lang="es-PE" sz="2200" dirty="0" smtClean="0"/>
              <a:t>.</a:t>
            </a:r>
          </a:p>
          <a:p>
            <a:pPr marL="342900" indent="-342900">
              <a:buFont typeface="Arial" panose="020B0604020202020204" pitchFamily="34" charset="0"/>
              <a:buChar char="•"/>
            </a:pPr>
            <a:r>
              <a:rPr lang="es-PE" sz="2200" dirty="0" smtClean="0"/>
              <a:t>Puedo </a:t>
            </a:r>
            <a:r>
              <a:rPr lang="es-PE" sz="2200" b="1" dirty="0" smtClean="0"/>
              <a:t>combinar comportamientos </a:t>
            </a:r>
            <a:r>
              <a:rPr lang="es-PE" sz="2200" dirty="0" smtClean="0"/>
              <a:t>envolviendo un objeto con varios decoradores.</a:t>
            </a:r>
          </a:p>
        </p:txBody>
      </p:sp>
      <p:sp>
        <p:nvSpPr>
          <p:cNvPr id="6" name="Rectángulo 5"/>
          <p:cNvSpPr/>
          <p:nvPr/>
        </p:nvSpPr>
        <p:spPr>
          <a:xfrm>
            <a:off x="205670" y="6484246"/>
            <a:ext cx="3752950" cy="261610"/>
          </a:xfrm>
          <a:prstGeom prst="rect">
            <a:avLst/>
          </a:prstGeom>
        </p:spPr>
        <p:txBody>
          <a:bodyPr wrap="none">
            <a:spAutoFit/>
          </a:bodyPr>
          <a:lstStyle/>
          <a:p>
            <a:r>
              <a:rPr lang="es-PE" sz="1100" i="1" dirty="0" smtClean="0"/>
              <a:t>Fuente: https</a:t>
            </a:r>
            <a:r>
              <a:rPr lang="es-PE" sz="1100" i="1" dirty="0"/>
              <a:t>://refactoring.guru/es/design-patterns/decorator</a:t>
            </a:r>
          </a:p>
        </p:txBody>
      </p:sp>
      <p:sp>
        <p:nvSpPr>
          <p:cNvPr id="8" name="Rectángulo 7"/>
          <p:cNvSpPr/>
          <p:nvPr/>
        </p:nvSpPr>
        <p:spPr>
          <a:xfrm>
            <a:off x="531543" y="3655237"/>
            <a:ext cx="10836368" cy="430887"/>
          </a:xfrm>
          <a:prstGeom prst="rect">
            <a:avLst/>
          </a:prstGeom>
        </p:spPr>
        <p:txBody>
          <a:bodyPr wrap="square">
            <a:spAutoFit/>
          </a:bodyPr>
          <a:lstStyle/>
          <a:p>
            <a:r>
              <a:rPr lang="es-PE" sz="2200" i="1" dirty="0" smtClean="0"/>
              <a:t>* Es difícil eliminar un </a:t>
            </a:r>
            <a:r>
              <a:rPr lang="es-PE" sz="2200" i="1" dirty="0" err="1" smtClean="0"/>
              <a:t>wrapper</a:t>
            </a:r>
            <a:r>
              <a:rPr lang="es-PE" sz="2200" i="1" dirty="0" smtClean="0"/>
              <a:t> de una pila</a:t>
            </a:r>
          </a:p>
        </p:txBody>
      </p:sp>
    </p:spTree>
    <p:extLst>
      <p:ext uri="{BB962C8B-B14F-4D97-AF65-F5344CB8AC3E}">
        <p14:creationId xmlns:p14="http://schemas.microsoft.com/office/powerpoint/2010/main" val="19876257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4191972" y="1482548"/>
            <a:ext cx="3783106" cy="548741"/>
          </a:xfrm>
        </p:spPr>
        <p:txBody>
          <a:bodyPr>
            <a:noAutofit/>
          </a:bodyPr>
          <a:lstStyle/>
          <a:p>
            <a:pPr algn="l"/>
            <a:r>
              <a:rPr lang="es-PE" sz="3600" b="1" dirty="0">
                <a:solidFill>
                  <a:srgbClr val="FF6600"/>
                </a:solidFill>
                <a:effectLst>
                  <a:outerShdw blurRad="38100" dist="38100" dir="2700000" algn="tl">
                    <a:srgbClr val="000000">
                      <a:alpha val="43137"/>
                    </a:srgbClr>
                  </a:outerShdw>
                </a:effectLst>
              </a:rPr>
              <a:t>Tipos de Patrones</a:t>
            </a:r>
          </a:p>
        </p:txBody>
      </p:sp>
      <p:sp>
        <p:nvSpPr>
          <p:cNvPr id="2" name="Elipse 1"/>
          <p:cNvSpPr/>
          <p:nvPr/>
        </p:nvSpPr>
        <p:spPr>
          <a:xfrm>
            <a:off x="619689" y="3070518"/>
            <a:ext cx="2700000" cy="1196622"/>
          </a:xfrm>
          <a:prstGeom prst="ellipse">
            <a:avLst/>
          </a:prstGeom>
          <a:solidFill>
            <a:schemeClr val="bg2">
              <a:lumMod val="75000"/>
            </a:schemeClr>
          </a:solidFill>
          <a:ln w="57150">
            <a:solidFill>
              <a:srgbClr val="76A7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PE" sz="2000" b="1" dirty="0" smtClean="0">
                <a:solidFill>
                  <a:schemeClr val="accent6"/>
                </a:solidFill>
                <a:effectLst>
                  <a:outerShdw blurRad="38100" dist="38100" dir="2700000" algn="tl">
                    <a:srgbClr val="000000">
                      <a:alpha val="43137"/>
                    </a:srgbClr>
                  </a:outerShdw>
                </a:effectLst>
              </a:rPr>
              <a:t>Patrones Arquitectónicos</a:t>
            </a:r>
            <a:endParaRPr lang="es-PE" sz="2000" b="1" dirty="0">
              <a:solidFill>
                <a:schemeClr val="accent6"/>
              </a:solidFill>
              <a:effectLst>
                <a:outerShdw blurRad="38100" dist="38100" dir="2700000" algn="tl">
                  <a:srgbClr val="000000">
                    <a:alpha val="43137"/>
                  </a:srgbClr>
                </a:outerShdw>
              </a:effectLst>
            </a:endParaRPr>
          </a:p>
        </p:txBody>
      </p:sp>
      <p:sp>
        <p:nvSpPr>
          <p:cNvPr id="7" name="Elipse 6"/>
          <p:cNvSpPr/>
          <p:nvPr/>
        </p:nvSpPr>
        <p:spPr>
          <a:xfrm>
            <a:off x="3919658" y="3168311"/>
            <a:ext cx="2540000" cy="1196622"/>
          </a:xfrm>
          <a:prstGeom prst="ellipse">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2000" b="1" dirty="0">
                <a:solidFill>
                  <a:srgbClr val="5B9BD5"/>
                </a:solidFill>
                <a:effectLst>
                  <a:outerShdw blurRad="38100" dist="38100" dir="2700000" algn="tl">
                    <a:srgbClr val="000000">
                      <a:alpha val="43137"/>
                    </a:srgbClr>
                  </a:outerShdw>
                </a:effectLst>
              </a:rPr>
              <a:t>Patrones de Diseño</a:t>
            </a:r>
          </a:p>
        </p:txBody>
      </p:sp>
      <p:sp>
        <p:nvSpPr>
          <p:cNvPr id="3" name="Rectángulo redondeado 2"/>
          <p:cNvSpPr/>
          <p:nvPr/>
        </p:nvSpPr>
        <p:spPr>
          <a:xfrm>
            <a:off x="6804589" y="2242983"/>
            <a:ext cx="2324894" cy="738278"/>
          </a:xfrm>
          <a:prstGeom prst="roundRect">
            <a:avLst/>
          </a:prstGeom>
          <a:solidFill>
            <a:schemeClr val="bg2">
              <a:lumMod val="7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1900" b="1" dirty="0">
                <a:solidFill>
                  <a:srgbClr val="5B9BD5"/>
                </a:solidFill>
                <a:effectLst>
                  <a:outerShdw blurRad="38100" dist="38100" dir="2700000" algn="tl">
                    <a:srgbClr val="000000">
                      <a:alpha val="43137"/>
                    </a:srgbClr>
                  </a:outerShdw>
                </a:effectLst>
              </a:rPr>
              <a:t>De Creación</a:t>
            </a:r>
          </a:p>
        </p:txBody>
      </p:sp>
      <p:sp>
        <p:nvSpPr>
          <p:cNvPr id="8" name="Rectángulo redondeado 7"/>
          <p:cNvSpPr/>
          <p:nvPr/>
        </p:nvSpPr>
        <p:spPr>
          <a:xfrm>
            <a:off x="6804588" y="3458789"/>
            <a:ext cx="2324894" cy="738278"/>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1900" b="1" dirty="0">
                <a:solidFill>
                  <a:srgbClr val="5B9BD5"/>
                </a:solidFill>
                <a:effectLst>
                  <a:outerShdw blurRad="38100" dist="38100" dir="2700000" algn="tl">
                    <a:srgbClr val="000000">
                      <a:alpha val="43137"/>
                    </a:srgbClr>
                  </a:outerShdw>
                </a:effectLst>
              </a:rPr>
              <a:t>Estructurales</a:t>
            </a:r>
          </a:p>
        </p:txBody>
      </p:sp>
      <p:sp>
        <p:nvSpPr>
          <p:cNvPr id="9" name="Rectángulo redondeado 8"/>
          <p:cNvSpPr/>
          <p:nvPr/>
        </p:nvSpPr>
        <p:spPr>
          <a:xfrm>
            <a:off x="6804588" y="4674595"/>
            <a:ext cx="2324894" cy="738278"/>
          </a:xfrm>
          <a:prstGeom prst="roundRect">
            <a:avLst/>
          </a:prstGeom>
          <a:solidFill>
            <a:schemeClr val="bg2">
              <a:lumMod val="7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1900" b="1" dirty="0">
                <a:solidFill>
                  <a:srgbClr val="5B9BD5"/>
                </a:solidFill>
                <a:effectLst>
                  <a:outerShdw blurRad="38100" dist="38100" dir="2700000" algn="tl">
                    <a:srgbClr val="000000">
                      <a:alpha val="43137"/>
                    </a:srgbClr>
                  </a:outerShdw>
                </a:effectLst>
              </a:rPr>
              <a:t>De Comportamiento</a:t>
            </a:r>
          </a:p>
        </p:txBody>
      </p:sp>
      <p:cxnSp>
        <p:nvCxnSpPr>
          <p:cNvPr id="20" name="Conector recto 19"/>
          <p:cNvCxnSpPr>
            <a:stCxn id="7" idx="7"/>
            <a:endCxn id="3" idx="1"/>
          </p:cNvCxnSpPr>
          <p:nvPr/>
        </p:nvCxnSpPr>
        <p:spPr>
          <a:xfrm flipV="1">
            <a:off x="6087684" y="2612122"/>
            <a:ext cx="716905" cy="7314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Conector recto 20"/>
          <p:cNvCxnSpPr>
            <a:stCxn id="7" idx="6"/>
            <a:endCxn id="8" idx="1"/>
          </p:cNvCxnSpPr>
          <p:nvPr/>
        </p:nvCxnSpPr>
        <p:spPr>
          <a:xfrm>
            <a:off x="6459658" y="3766622"/>
            <a:ext cx="344930" cy="613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Conector recto 23"/>
          <p:cNvCxnSpPr>
            <a:stCxn id="7" idx="5"/>
            <a:endCxn id="9" idx="1"/>
          </p:cNvCxnSpPr>
          <p:nvPr/>
        </p:nvCxnSpPr>
        <p:spPr>
          <a:xfrm>
            <a:off x="6087684" y="4189692"/>
            <a:ext cx="716904" cy="85404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1" name="Abrir llave 80"/>
          <p:cNvSpPr/>
          <p:nvPr/>
        </p:nvSpPr>
        <p:spPr>
          <a:xfrm>
            <a:off x="9387433" y="3370728"/>
            <a:ext cx="92287" cy="914400"/>
          </a:xfrm>
          <a:prstGeom prst="leftBrace">
            <a:avLst>
              <a:gd name="adj1" fmla="val 247706"/>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82" name="Abrir llave 81"/>
          <p:cNvSpPr/>
          <p:nvPr/>
        </p:nvSpPr>
        <p:spPr>
          <a:xfrm>
            <a:off x="9362738" y="4575926"/>
            <a:ext cx="92287" cy="914400"/>
          </a:xfrm>
          <a:prstGeom prst="leftBrace">
            <a:avLst>
              <a:gd name="adj1" fmla="val 247706"/>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33" name="Abrir llave 32"/>
          <p:cNvSpPr/>
          <p:nvPr/>
        </p:nvSpPr>
        <p:spPr>
          <a:xfrm rot="10800000">
            <a:off x="147412" y="1276490"/>
            <a:ext cx="272315" cy="4899933"/>
          </a:xfrm>
          <a:prstGeom prst="leftBrace">
            <a:avLst>
              <a:gd name="adj1" fmla="val 218603"/>
              <a:gd name="adj2" fmla="val 51120"/>
            </a:avLst>
          </a:prstGeom>
          <a:ln w="28575">
            <a:solidFill>
              <a:srgbClr val="76A75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25" name="CuadroTexto 24"/>
          <p:cNvSpPr txBox="1"/>
          <p:nvPr/>
        </p:nvSpPr>
        <p:spPr>
          <a:xfrm>
            <a:off x="9572584" y="3196986"/>
            <a:ext cx="1774332" cy="1261884"/>
          </a:xfrm>
          <a:prstGeom prst="rect">
            <a:avLst/>
          </a:prstGeom>
          <a:noFill/>
        </p:spPr>
        <p:txBody>
          <a:bodyPr wrap="none" rtlCol="0">
            <a:spAutoFit/>
          </a:bodyPr>
          <a:lstStyle>
            <a:defPPr>
              <a:defRPr lang="es-PE"/>
            </a:defPPr>
            <a:lvl1pPr>
              <a:defRPr b="1">
                <a:solidFill>
                  <a:schemeClr val="accent6"/>
                </a:solidFill>
              </a:defRPr>
            </a:lvl1pPr>
          </a:lstStyle>
          <a:p>
            <a:pPr marL="342900" indent="-342900">
              <a:buFontTx/>
              <a:buChar char="-"/>
            </a:pPr>
            <a:r>
              <a:rPr lang="es-PE" sz="1900" dirty="0" smtClean="0">
                <a:solidFill>
                  <a:schemeClr val="accent1"/>
                </a:solidFill>
              </a:rPr>
              <a:t>COMPOSITE</a:t>
            </a:r>
          </a:p>
          <a:p>
            <a:pPr marL="342900" indent="-342900">
              <a:buFontTx/>
              <a:buChar char="-"/>
            </a:pPr>
            <a:r>
              <a:rPr lang="es-PE" sz="1900" dirty="0">
                <a:solidFill>
                  <a:schemeClr val="accent1"/>
                </a:solidFill>
              </a:rPr>
              <a:t>FACADE</a:t>
            </a:r>
          </a:p>
          <a:p>
            <a:pPr marL="342900" indent="-342900">
              <a:buFontTx/>
              <a:buChar char="-"/>
            </a:pPr>
            <a:r>
              <a:rPr lang="es-PE" sz="1900" dirty="0" smtClean="0">
                <a:solidFill>
                  <a:schemeClr val="accent1"/>
                </a:solidFill>
              </a:rPr>
              <a:t>ADAPTER</a:t>
            </a:r>
            <a:endParaRPr lang="es-PE" sz="1900" dirty="0" smtClean="0">
              <a:solidFill>
                <a:schemeClr val="accent1"/>
              </a:solidFill>
            </a:endParaRPr>
          </a:p>
          <a:p>
            <a:pPr marL="342900" indent="-342900">
              <a:buFontTx/>
              <a:buChar char="-"/>
            </a:pPr>
            <a:r>
              <a:rPr lang="es-PE" sz="1900" dirty="0" smtClean="0">
                <a:solidFill>
                  <a:schemeClr val="accent1"/>
                </a:solidFill>
              </a:rPr>
              <a:t>DECORATOR</a:t>
            </a:r>
          </a:p>
        </p:txBody>
      </p:sp>
      <p:sp>
        <p:nvSpPr>
          <p:cNvPr id="16" name="Abrir llave 15"/>
          <p:cNvSpPr/>
          <p:nvPr/>
        </p:nvSpPr>
        <p:spPr>
          <a:xfrm>
            <a:off x="9381787" y="2196682"/>
            <a:ext cx="92287" cy="914400"/>
          </a:xfrm>
          <a:prstGeom prst="leftBrace">
            <a:avLst>
              <a:gd name="adj1" fmla="val 247706"/>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Tree>
    <p:extLst>
      <p:ext uri="{BB962C8B-B14F-4D97-AF65-F5344CB8AC3E}">
        <p14:creationId xmlns:p14="http://schemas.microsoft.com/office/powerpoint/2010/main" val="95411680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4191972" y="1482548"/>
            <a:ext cx="3783106" cy="548741"/>
          </a:xfrm>
        </p:spPr>
        <p:txBody>
          <a:bodyPr>
            <a:noAutofit/>
          </a:bodyPr>
          <a:lstStyle/>
          <a:p>
            <a:pPr algn="l"/>
            <a:r>
              <a:rPr lang="es-PE" sz="3600" b="1" dirty="0">
                <a:solidFill>
                  <a:srgbClr val="FF6600"/>
                </a:solidFill>
                <a:effectLst>
                  <a:outerShdw blurRad="38100" dist="38100" dir="2700000" algn="tl">
                    <a:srgbClr val="000000">
                      <a:alpha val="43137"/>
                    </a:srgbClr>
                  </a:outerShdw>
                </a:effectLst>
              </a:rPr>
              <a:t>Tipos de Patrones</a:t>
            </a:r>
          </a:p>
        </p:txBody>
      </p:sp>
      <p:sp>
        <p:nvSpPr>
          <p:cNvPr id="2" name="Elipse 1"/>
          <p:cNvSpPr/>
          <p:nvPr/>
        </p:nvSpPr>
        <p:spPr>
          <a:xfrm>
            <a:off x="619689" y="3070518"/>
            <a:ext cx="2700000" cy="1196622"/>
          </a:xfrm>
          <a:prstGeom prst="ellipse">
            <a:avLst/>
          </a:prstGeom>
          <a:solidFill>
            <a:schemeClr val="bg2">
              <a:lumMod val="75000"/>
            </a:schemeClr>
          </a:solidFill>
          <a:ln w="57150">
            <a:solidFill>
              <a:srgbClr val="76A755"/>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PE" sz="2000" b="1" dirty="0" smtClean="0">
                <a:solidFill>
                  <a:schemeClr val="accent6"/>
                </a:solidFill>
                <a:effectLst>
                  <a:outerShdw blurRad="38100" dist="38100" dir="2700000" algn="tl">
                    <a:srgbClr val="000000">
                      <a:alpha val="43137"/>
                    </a:srgbClr>
                  </a:outerShdw>
                </a:effectLst>
              </a:rPr>
              <a:t>Patrones Arquitectónicos</a:t>
            </a:r>
            <a:endParaRPr lang="es-PE" sz="2000" b="1" dirty="0">
              <a:solidFill>
                <a:schemeClr val="accent6"/>
              </a:solidFill>
              <a:effectLst>
                <a:outerShdw blurRad="38100" dist="38100" dir="2700000" algn="tl">
                  <a:srgbClr val="000000">
                    <a:alpha val="43137"/>
                  </a:srgbClr>
                </a:outerShdw>
              </a:effectLst>
            </a:endParaRPr>
          </a:p>
        </p:txBody>
      </p:sp>
      <p:sp>
        <p:nvSpPr>
          <p:cNvPr id="7" name="Elipse 6"/>
          <p:cNvSpPr/>
          <p:nvPr/>
        </p:nvSpPr>
        <p:spPr>
          <a:xfrm>
            <a:off x="3919658" y="3168311"/>
            <a:ext cx="2540000" cy="1196622"/>
          </a:xfrm>
          <a:prstGeom prst="ellipse">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2000" b="1" dirty="0">
                <a:solidFill>
                  <a:srgbClr val="5B9BD5"/>
                </a:solidFill>
                <a:effectLst>
                  <a:outerShdw blurRad="38100" dist="38100" dir="2700000" algn="tl">
                    <a:srgbClr val="000000">
                      <a:alpha val="43137"/>
                    </a:srgbClr>
                  </a:outerShdw>
                </a:effectLst>
              </a:rPr>
              <a:t>Patrones de Diseño</a:t>
            </a:r>
          </a:p>
        </p:txBody>
      </p:sp>
      <p:sp>
        <p:nvSpPr>
          <p:cNvPr id="3" name="Rectángulo redondeado 2"/>
          <p:cNvSpPr/>
          <p:nvPr/>
        </p:nvSpPr>
        <p:spPr>
          <a:xfrm>
            <a:off x="6804589" y="2242983"/>
            <a:ext cx="2324894" cy="738278"/>
          </a:xfrm>
          <a:prstGeom prst="roundRect">
            <a:avLst/>
          </a:prstGeom>
          <a:solidFill>
            <a:schemeClr val="bg2">
              <a:lumMod val="7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1900" b="1" dirty="0">
                <a:solidFill>
                  <a:srgbClr val="5B9BD5"/>
                </a:solidFill>
                <a:effectLst>
                  <a:outerShdw blurRad="38100" dist="38100" dir="2700000" algn="tl">
                    <a:srgbClr val="000000">
                      <a:alpha val="43137"/>
                    </a:srgbClr>
                  </a:outerShdw>
                </a:effectLst>
              </a:rPr>
              <a:t>De Creación</a:t>
            </a:r>
          </a:p>
        </p:txBody>
      </p:sp>
      <p:sp>
        <p:nvSpPr>
          <p:cNvPr id="8" name="Rectángulo redondeado 7"/>
          <p:cNvSpPr/>
          <p:nvPr/>
        </p:nvSpPr>
        <p:spPr>
          <a:xfrm>
            <a:off x="6804588" y="3458789"/>
            <a:ext cx="2324894" cy="738278"/>
          </a:xfrm>
          <a:prstGeom prst="roundRect">
            <a:avLst/>
          </a:prstGeom>
          <a:solidFill>
            <a:schemeClr val="bg2">
              <a:lumMod val="7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1900" b="1" dirty="0">
                <a:solidFill>
                  <a:srgbClr val="5B9BD5"/>
                </a:solidFill>
                <a:effectLst>
                  <a:outerShdw blurRad="38100" dist="38100" dir="2700000" algn="tl">
                    <a:srgbClr val="000000">
                      <a:alpha val="43137"/>
                    </a:srgbClr>
                  </a:outerShdw>
                </a:effectLst>
              </a:rPr>
              <a:t>Estructurales</a:t>
            </a:r>
          </a:p>
        </p:txBody>
      </p:sp>
      <p:sp>
        <p:nvSpPr>
          <p:cNvPr id="9" name="Rectángulo redondeado 8"/>
          <p:cNvSpPr/>
          <p:nvPr/>
        </p:nvSpPr>
        <p:spPr>
          <a:xfrm>
            <a:off x="6804588" y="4674595"/>
            <a:ext cx="2324894" cy="738278"/>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s-PE" sz="1900" b="1" dirty="0">
                <a:solidFill>
                  <a:srgbClr val="5B9BD5"/>
                </a:solidFill>
                <a:effectLst>
                  <a:outerShdw blurRad="38100" dist="38100" dir="2700000" algn="tl">
                    <a:srgbClr val="000000">
                      <a:alpha val="43137"/>
                    </a:srgbClr>
                  </a:outerShdw>
                </a:effectLst>
              </a:rPr>
              <a:t>De Comportamiento</a:t>
            </a:r>
          </a:p>
        </p:txBody>
      </p:sp>
      <p:cxnSp>
        <p:nvCxnSpPr>
          <p:cNvPr id="20" name="Conector recto 19"/>
          <p:cNvCxnSpPr>
            <a:stCxn id="7" idx="7"/>
            <a:endCxn id="3" idx="1"/>
          </p:cNvCxnSpPr>
          <p:nvPr/>
        </p:nvCxnSpPr>
        <p:spPr>
          <a:xfrm flipV="1">
            <a:off x="6087684" y="2612122"/>
            <a:ext cx="716905" cy="7314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Conector recto 20"/>
          <p:cNvCxnSpPr>
            <a:stCxn id="7" idx="6"/>
            <a:endCxn id="8" idx="1"/>
          </p:cNvCxnSpPr>
          <p:nvPr/>
        </p:nvCxnSpPr>
        <p:spPr>
          <a:xfrm>
            <a:off x="6459658" y="3766622"/>
            <a:ext cx="344930" cy="613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Conector recto 23"/>
          <p:cNvCxnSpPr>
            <a:stCxn id="7" idx="5"/>
            <a:endCxn id="9" idx="1"/>
          </p:cNvCxnSpPr>
          <p:nvPr/>
        </p:nvCxnSpPr>
        <p:spPr>
          <a:xfrm>
            <a:off x="6087684" y="4189692"/>
            <a:ext cx="716904" cy="85404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1" name="Abrir llave 80"/>
          <p:cNvSpPr/>
          <p:nvPr/>
        </p:nvSpPr>
        <p:spPr>
          <a:xfrm>
            <a:off x="9387433" y="3370728"/>
            <a:ext cx="92287" cy="914400"/>
          </a:xfrm>
          <a:prstGeom prst="leftBrace">
            <a:avLst>
              <a:gd name="adj1" fmla="val 247706"/>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82" name="Abrir llave 81"/>
          <p:cNvSpPr/>
          <p:nvPr/>
        </p:nvSpPr>
        <p:spPr>
          <a:xfrm>
            <a:off x="9362738" y="4575926"/>
            <a:ext cx="113172" cy="1367674"/>
          </a:xfrm>
          <a:prstGeom prst="leftBrace">
            <a:avLst>
              <a:gd name="adj1" fmla="val 247706"/>
              <a:gd name="adj2" fmla="val 3384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33" name="Abrir llave 32"/>
          <p:cNvSpPr/>
          <p:nvPr/>
        </p:nvSpPr>
        <p:spPr>
          <a:xfrm rot="10800000">
            <a:off x="147412" y="1276490"/>
            <a:ext cx="272315" cy="4899933"/>
          </a:xfrm>
          <a:prstGeom prst="leftBrace">
            <a:avLst>
              <a:gd name="adj1" fmla="val 218603"/>
              <a:gd name="adj2" fmla="val 51120"/>
            </a:avLst>
          </a:prstGeom>
          <a:ln w="28575">
            <a:solidFill>
              <a:srgbClr val="76A75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25" name="CuadroTexto 24"/>
          <p:cNvSpPr txBox="1"/>
          <p:nvPr/>
        </p:nvSpPr>
        <p:spPr>
          <a:xfrm>
            <a:off x="9518138" y="4482627"/>
            <a:ext cx="1896673" cy="1554272"/>
          </a:xfrm>
          <a:prstGeom prst="rect">
            <a:avLst/>
          </a:prstGeom>
          <a:noFill/>
        </p:spPr>
        <p:txBody>
          <a:bodyPr wrap="none" rtlCol="0">
            <a:spAutoFit/>
          </a:bodyPr>
          <a:lstStyle>
            <a:defPPr>
              <a:defRPr lang="es-PE"/>
            </a:defPPr>
            <a:lvl1pPr>
              <a:defRPr b="1">
                <a:solidFill>
                  <a:schemeClr val="accent6"/>
                </a:solidFill>
              </a:defRPr>
            </a:lvl1pPr>
          </a:lstStyle>
          <a:p>
            <a:pPr marL="342900" indent="-342900">
              <a:buFontTx/>
              <a:buChar char="-"/>
            </a:pPr>
            <a:r>
              <a:rPr lang="es-PE" sz="1900" dirty="0" smtClean="0">
                <a:solidFill>
                  <a:schemeClr val="accent1"/>
                </a:solidFill>
              </a:rPr>
              <a:t>STRATEGY</a:t>
            </a:r>
            <a:endParaRPr lang="es-PE" sz="1900" dirty="0">
              <a:solidFill>
                <a:schemeClr val="accent1"/>
              </a:solidFill>
            </a:endParaRPr>
          </a:p>
          <a:p>
            <a:pPr marL="342900" indent="-342900">
              <a:buFontTx/>
              <a:buChar char="-"/>
            </a:pPr>
            <a:r>
              <a:rPr lang="es-PE" sz="1900" dirty="0" smtClean="0">
                <a:solidFill>
                  <a:schemeClr val="accent1"/>
                </a:solidFill>
              </a:rPr>
              <a:t>STATE</a:t>
            </a:r>
          </a:p>
          <a:p>
            <a:pPr marL="342900" indent="-342900">
              <a:buFontTx/>
              <a:buChar char="-"/>
            </a:pPr>
            <a:r>
              <a:rPr lang="es-PE" sz="1900" dirty="0" smtClean="0">
                <a:solidFill>
                  <a:schemeClr val="accent1"/>
                </a:solidFill>
              </a:rPr>
              <a:t>INTERPRETER</a:t>
            </a:r>
          </a:p>
          <a:p>
            <a:pPr marL="342900" indent="-342900">
              <a:buFontTx/>
              <a:buChar char="-"/>
            </a:pPr>
            <a:r>
              <a:rPr lang="es-PE" sz="1900" dirty="0" smtClean="0">
                <a:solidFill>
                  <a:schemeClr val="accent1"/>
                </a:solidFill>
              </a:rPr>
              <a:t>COMMAND</a:t>
            </a:r>
          </a:p>
          <a:p>
            <a:pPr marL="342900" indent="-342900">
              <a:buFontTx/>
              <a:buChar char="-"/>
            </a:pPr>
            <a:r>
              <a:rPr lang="es-PE" sz="1900" dirty="0" smtClean="0">
                <a:solidFill>
                  <a:schemeClr val="accent1"/>
                </a:solidFill>
              </a:rPr>
              <a:t>OBSERVER</a:t>
            </a:r>
          </a:p>
        </p:txBody>
      </p:sp>
      <p:sp>
        <p:nvSpPr>
          <p:cNvPr id="16" name="Abrir llave 15"/>
          <p:cNvSpPr/>
          <p:nvPr/>
        </p:nvSpPr>
        <p:spPr>
          <a:xfrm>
            <a:off x="9383623" y="2098442"/>
            <a:ext cx="92287" cy="914400"/>
          </a:xfrm>
          <a:prstGeom prst="leftBrace">
            <a:avLst>
              <a:gd name="adj1" fmla="val 247706"/>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Tree>
    <p:extLst>
      <p:ext uri="{BB962C8B-B14F-4D97-AF65-F5344CB8AC3E}">
        <p14:creationId xmlns:p14="http://schemas.microsoft.com/office/powerpoint/2010/main" val="249337928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10053"/>
            <a:ext cx="7085749" cy="548741"/>
          </a:xfrm>
        </p:spPr>
        <p:txBody>
          <a:bodyPr spcFirstLastPara="1" vert="horz" wrap="square" lIns="91425" tIns="91425" rIns="91425" bIns="91425" rtlCol="0" anchor="ctr" anchorCtr="0">
            <a:noAutofit/>
          </a:bodyPr>
          <a:lstStyle/>
          <a:p>
            <a:pPr algn="l"/>
            <a:r>
              <a:rPr lang="es-PE" sz="4400" b="1" dirty="0" smtClean="0">
                <a:solidFill>
                  <a:schemeClr val="accent1"/>
                </a:solidFill>
                <a:effectLst>
                  <a:outerShdw blurRad="38100" dist="38100" dir="2700000" algn="tl">
                    <a:srgbClr val="000000">
                      <a:alpha val="43137"/>
                    </a:srgbClr>
                  </a:outerShdw>
                </a:effectLst>
              </a:rPr>
              <a:t>Patrones de comportamiento</a:t>
            </a:r>
            <a:endParaRPr lang="es-PE" sz="44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484094" y="2032414"/>
            <a:ext cx="11504706" cy="46230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sz="2400" dirty="0"/>
              <a:t>Los </a:t>
            </a:r>
            <a:r>
              <a:rPr lang="es-PE" sz="2400" b="1" dirty="0"/>
              <a:t>patrones </a:t>
            </a:r>
            <a:r>
              <a:rPr lang="es-PE" sz="2400" b="1" dirty="0" smtClean="0"/>
              <a:t>de comportamiento </a:t>
            </a:r>
            <a:r>
              <a:rPr lang="es-PE" sz="2400" dirty="0" err="1" smtClean="0"/>
              <a:t>rgdr</a:t>
            </a:r>
            <a:endParaRPr lang="es-PE" sz="2200" dirty="0"/>
          </a:p>
        </p:txBody>
      </p:sp>
    </p:spTree>
    <p:extLst>
      <p:ext uri="{BB962C8B-B14F-4D97-AF65-F5344CB8AC3E}">
        <p14:creationId xmlns:p14="http://schemas.microsoft.com/office/powerpoint/2010/main" val="22562755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01574"/>
            <a:ext cx="7801950"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STRATEGY</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347240" y="2274768"/>
            <a:ext cx="8627426" cy="20601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Este patrón nos permite</a:t>
            </a:r>
            <a:endParaRPr lang="es-PE" sz="1800" dirty="0"/>
          </a:p>
        </p:txBody>
      </p:sp>
      <p:sp>
        <p:nvSpPr>
          <p:cNvPr id="7" name="2 Marcador de contenido"/>
          <p:cNvSpPr txBox="1">
            <a:spLocks/>
          </p:cNvSpPr>
          <p:nvPr/>
        </p:nvSpPr>
        <p:spPr>
          <a:xfrm>
            <a:off x="347240" y="3979111"/>
            <a:ext cx="11322119" cy="11453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defRPr/>
            </a:pPr>
            <a:r>
              <a:rPr lang="es-PE" dirty="0" smtClean="0"/>
              <a:t>Su </a:t>
            </a:r>
            <a:r>
              <a:rPr lang="es-PE" dirty="0"/>
              <a:t>función </a:t>
            </a:r>
            <a:r>
              <a:rPr lang="es-PE" dirty="0" smtClean="0"/>
              <a:t>es</a:t>
            </a:r>
            <a:endParaRPr lang="es-PE" sz="1800" dirty="0"/>
          </a:p>
        </p:txBody>
      </p:sp>
      <p:pic>
        <p:nvPicPr>
          <p:cNvPr id="3" name="Imagen 2"/>
          <p:cNvPicPr>
            <a:picLocks noChangeAspect="1"/>
          </p:cNvPicPr>
          <p:nvPr/>
        </p:nvPicPr>
        <p:blipFill>
          <a:blip r:embed="rId3"/>
          <a:stretch>
            <a:fillRect/>
          </a:stretch>
        </p:blipFill>
        <p:spPr>
          <a:xfrm>
            <a:off x="9416185" y="1345764"/>
            <a:ext cx="2619375" cy="1781175"/>
          </a:xfrm>
          <a:prstGeom prst="rect">
            <a:avLst/>
          </a:prstGeom>
        </p:spPr>
      </p:pic>
    </p:spTree>
    <p:extLst>
      <p:ext uri="{BB962C8B-B14F-4D97-AF65-F5344CB8AC3E}">
        <p14:creationId xmlns:p14="http://schemas.microsoft.com/office/powerpoint/2010/main" val="35579785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01574"/>
            <a:ext cx="7801950"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STATE</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347240" y="2274768"/>
            <a:ext cx="8627426" cy="20601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Este patrón nos permite</a:t>
            </a:r>
            <a:endParaRPr lang="es-PE" sz="1800" dirty="0"/>
          </a:p>
        </p:txBody>
      </p:sp>
      <p:sp>
        <p:nvSpPr>
          <p:cNvPr id="7" name="2 Marcador de contenido"/>
          <p:cNvSpPr txBox="1">
            <a:spLocks/>
          </p:cNvSpPr>
          <p:nvPr/>
        </p:nvSpPr>
        <p:spPr>
          <a:xfrm>
            <a:off x="347240" y="3979111"/>
            <a:ext cx="11322119" cy="11453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defRPr/>
            </a:pPr>
            <a:r>
              <a:rPr lang="es-PE" dirty="0" smtClean="0"/>
              <a:t>Su </a:t>
            </a:r>
            <a:r>
              <a:rPr lang="es-PE" dirty="0"/>
              <a:t>función </a:t>
            </a:r>
            <a:r>
              <a:rPr lang="es-PE" dirty="0" smtClean="0"/>
              <a:t>es</a:t>
            </a:r>
            <a:endParaRPr lang="es-PE" sz="1800" dirty="0"/>
          </a:p>
        </p:txBody>
      </p:sp>
      <p:pic>
        <p:nvPicPr>
          <p:cNvPr id="2" name="Imagen 1"/>
          <p:cNvPicPr>
            <a:picLocks noChangeAspect="1"/>
          </p:cNvPicPr>
          <p:nvPr/>
        </p:nvPicPr>
        <p:blipFill>
          <a:blip r:embed="rId3"/>
          <a:stretch>
            <a:fillRect/>
          </a:stretch>
        </p:blipFill>
        <p:spPr>
          <a:xfrm>
            <a:off x="9379352" y="1441330"/>
            <a:ext cx="2438400" cy="1666875"/>
          </a:xfrm>
          <a:prstGeom prst="rect">
            <a:avLst/>
          </a:prstGeom>
        </p:spPr>
      </p:pic>
    </p:spTree>
    <p:extLst>
      <p:ext uri="{BB962C8B-B14F-4D97-AF65-F5344CB8AC3E}">
        <p14:creationId xmlns:p14="http://schemas.microsoft.com/office/powerpoint/2010/main" val="987737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01574"/>
            <a:ext cx="7801950"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INTERPRETER</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347240" y="2274768"/>
            <a:ext cx="8627426" cy="20601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Este patrón nos permite</a:t>
            </a:r>
            <a:endParaRPr lang="es-PE" sz="1800" dirty="0"/>
          </a:p>
        </p:txBody>
      </p:sp>
      <p:sp>
        <p:nvSpPr>
          <p:cNvPr id="7" name="2 Marcador de contenido"/>
          <p:cNvSpPr txBox="1">
            <a:spLocks/>
          </p:cNvSpPr>
          <p:nvPr/>
        </p:nvSpPr>
        <p:spPr>
          <a:xfrm>
            <a:off x="347240" y="3979111"/>
            <a:ext cx="11322119" cy="11453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defRPr/>
            </a:pPr>
            <a:r>
              <a:rPr lang="es-PE" dirty="0" smtClean="0"/>
              <a:t>Su </a:t>
            </a:r>
            <a:r>
              <a:rPr lang="es-PE" dirty="0"/>
              <a:t>función </a:t>
            </a:r>
            <a:r>
              <a:rPr lang="es-PE" dirty="0" smtClean="0"/>
              <a:t>es</a:t>
            </a:r>
            <a:endParaRPr lang="es-PE" sz="1800" dirty="0"/>
          </a:p>
        </p:txBody>
      </p:sp>
      <p:pic>
        <p:nvPicPr>
          <p:cNvPr id="3" name="Imagen 2"/>
          <p:cNvPicPr>
            <a:picLocks noChangeAspect="1"/>
          </p:cNvPicPr>
          <p:nvPr/>
        </p:nvPicPr>
        <p:blipFill>
          <a:blip r:embed="rId3"/>
          <a:stretch>
            <a:fillRect/>
          </a:stretch>
        </p:blipFill>
        <p:spPr>
          <a:xfrm>
            <a:off x="9416185" y="1345764"/>
            <a:ext cx="2619375" cy="1781175"/>
          </a:xfrm>
          <a:prstGeom prst="rect">
            <a:avLst/>
          </a:prstGeom>
        </p:spPr>
      </p:pic>
    </p:spTree>
    <p:extLst>
      <p:ext uri="{BB962C8B-B14F-4D97-AF65-F5344CB8AC3E}">
        <p14:creationId xmlns:p14="http://schemas.microsoft.com/office/powerpoint/2010/main" val="12507255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01574"/>
            <a:ext cx="7801950"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COMMAND</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347240" y="2274768"/>
            <a:ext cx="8627426" cy="20601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Este patrón nos permite</a:t>
            </a:r>
            <a:endParaRPr lang="es-PE" sz="1800" dirty="0"/>
          </a:p>
        </p:txBody>
      </p:sp>
      <p:sp>
        <p:nvSpPr>
          <p:cNvPr id="7" name="2 Marcador de contenido"/>
          <p:cNvSpPr txBox="1">
            <a:spLocks/>
          </p:cNvSpPr>
          <p:nvPr/>
        </p:nvSpPr>
        <p:spPr>
          <a:xfrm>
            <a:off x="347240" y="3979111"/>
            <a:ext cx="11322119" cy="11453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defRPr/>
            </a:pPr>
            <a:r>
              <a:rPr lang="es-PE" dirty="0" smtClean="0"/>
              <a:t>Su </a:t>
            </a:r>
            <a:r>
              <a:rPr lang="es-PE" dirty="0"/>
              <a:t>función </a:t>
            </a:r>
            <a:r>
              <a:rPr lang="es-PE" dirty="0" smtClean="0"/>
              <a:t>es</a:t>
            </a:r>
            <a:endParaRPr lang="es-PE" sz="1800" dirty="0"/>
          </a:p>
        </p:txBody>
      </p:sp>
      <p:pic>
        <p:nvPicPr>
          <p:cNvPr id="2" name="Imagen 1"/>
          <p:cNvPicPr>
            <a:picLocks noChangeAspect="1"/>
          </p:cNvPicPr>
          <p:nvPr/>
        </p:nvPicPr>
        <p:blipFill>
          <a:blip r:embed="rId3"/>
          <a:stretch>
            <a:fillRect/>
          </a:stretch>
        </p:blipFill>
        <p:spPr>
          <a:xfrm>
            <a:off x="9130996" y="1145465"/>
            <a:ext cx="2895600" cy="1409700"/>
          </a:xfrm>
          <a:prstGeom prst="rect">
            <a:avLst/>
          </a:prstGeom>
        </p:spPr>
      </p:pic>
    </p:spTree>
    <p:extLst>
      <p:ext uri="{BB962C8B-B14F-4D97-AF65-F5344CB8AC3E}">
        <p14:creationId xmlns:p14="http://schemas.microsoft.com/office/powerpoint/2010/main" val="1842052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ítulo 1"/>
          <p:cNvSpPr>
            <a:spLocks noGrp="1"/>
          </p:cNvSpPr>
          <p:nvPr>
            <p:ph type="title"/>
          </p:nvPr>
        </p:nvSpPr>
        <p:spPr>
          <a:xfrm>
            <a:off x="484094" y="1301574"/>
            <a:ext cx="7801950" cy="548741"/>
          </a:xfrm>
        </p:spPr>
        <p:txBody>
          <a:bodyPr>
            <a:noAutofit/>
          </a:bodyPr>
          <a:lstStyle/>
          <a:p>
            <a:pPr algn="l"/>
            <a:r>
              <a:rPr lang="es-PE" sz="3600" b="1" dirty="0" smtClean="0">
                <a:solidFill>
                  <a:schemeClr val="accent1"/>
                </a:solidFill>
                <a:effectLst>
                  <a:outerShdw blurRad="38100" dist="38100" dir="2700000" algn="tl">
                    <a:srgbClr val="000000">
                      <a:alpha val="43137"/>
                    </a:srgbClr>
                  </a:outerShdw>
                </a:effectLst>
              </a:rPr>
              <a:t>OBSERVER</a:t>
            </a:r>
            <a:endParaRPr lang="es-PE" sz="3600" b="1" dirty="0">
              <a:solidFill>
                <a:schemeClr val="accent1"/>
              </a:solidFill>
              <a:effectLst>
                <a:outerShdw blurRad="38100" dist="38100" dir="2700000" algn="tl">
                  <a:srgbClr val="000000">
                    <a:alpha val="43137"/>
                  </a:srgbClr>
                </a:outerShdw>
              </a:effectLst>
            </a:endParaRPr>
          </a:p>
        </p:txBody>
      </p:sp>
      <p:sp>
        <p:nvSpPr>
          <p:cNvPr id="6" name="2 Marcador de contenido"/>
          <p:cNvSpPr txBox="1">
            <a:spLocks/>
          </p:cNvSpPr>
          <p:nvPr/>
        </p:nvSpPr>
        <p:spPr>
          <a:xfrm>
            <a:off x="347240" y="2274768"/>
            <a:ext cx="8627426" cy="20601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dirty="0" smtClean="0"/>
              <a:t>Este patrón nos permite</a:t>
            </a:r>
            <a:endParaRPr lang="es-PE" sz="1800" dirty="0"/>
          </a:p>
        </p:txBody>
      </p:sp>
      <p:sp>
        <p:nvSpPr>
          <p:cNvPr id="7" name="2 Marcador de contenido"/>
          <p:cNvSpPr txBox="1">
            <a:spLocks/>
          </p:cNvSpPr>
          <p:nvPr/>
        </p:nvSpPr>
        <p:spPr>
          <a:xfrm>
            <a:off x="347240" y="3979111"/>
            <a:ext cx="11322119" cy="11453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defRPr/>
            </a:pPr>
            <a:r>
              <a:rPr lang="es-PE" dirty="0" smtClean="0"/>
              <a:t>Su </a:t>
            </a:r>
            <a:r>
              <a:rPr lang="es-PE" dirty="0"/>
              <a:t>función </a:t>
            </a:r>
            <a:r>
              <a:rPr lang="es-PE" dirty="0" smtClean="0"/>
              <a:t>es</a:t>
            </a:r>
            <a:endParaRPr lang="es-PE" sz="1800" dirty="0"/>
          </a:p>
        </p:txBody>
      </p:sp>
      <p:pic>
        <p:nvPicPr>
          <p:cNvPr id="2" name="Imagen 1"/>
          <p:cNvPicPr>
            <a:picLocks noChangeAspect="1"/>
          </p:cNvPicPr>
          <p:nvPr/>
        </p:nvPicPr>
        <p:blipFill>
          <a:blip r:embed="rId3"/>
          <a:stretch>
            <a:fillRect/>
          </a:stretch>
        </p:blipFill>
        <p:spPr>
          <a:xfrm>
            <a:off x="9170465" y="1301574"/>
            <a:ext cx="2809875" cy="1981200"/>
          </a:xfrm>
          <a:prstGeom prst="rect">
            <a:avLst/>
          </a:prstGeom>
        </p:spPr>
      </p:pic>
    </p:spTree>
    <p:extLst>
      <p:ext uri="{BB962C8B-B14F-4D97-AF65-F5344CB8AC3E}">
        <p14:creationId xmlns:p14="http://schemas.microsoft.com/office/powerpoint/2010/main" val="7189118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idx="2"/>
          </p:nvPr>
        </p:nvSpPr>
        <p:spPr>
          <a:xfrm>
            <a:off x="605305" y="2847743"/>
            <a:ext cx="3513655" cy="800025"/>
          </a:xfrm>
        </p:spPr>
        <p:txBody>
          <a:bodyPr>
            <a:normAutofit/>
          </a:bodyPr>
          <a:lstStyle/>
          <a:p>
            <a:r>
              <a:rPr lang="es-PE" b="1" dirty="0" smtClean="0">
                <a:solidFill>
                  <a:srgbClr val="E9BB3D"/>
                </a:solidFill>
              </a:rPr>
              <a:t>¿</a:t>
            </a:r>
            <a:r>
              <a:rPr lang="es-PE" b="1" dirty="0">
                <a:solidFill>
                  <a:srgbClr val="E9BB3D"/>
                </a:solidFill>
              </a:rPr>
              <a:t>PREGUNTAS?</a:t>
            </a:r>
          </a:p>
        </p:txBody>
      </p:sp>
      <p:pic>
        <p:nvPicPr>
          <p:cNvPr id="6" name="Picture 2" descr="Vector gratuito diferentes personas haciendo preguntas ilustrad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3677" y="1389155"/>
            <a:ext cx="7434396" cy="3717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9224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92AA389A-685A-4DFF-850B-C09FDCA27B9D}"/>
              </a:ext>
            </a:extLst>
          </p:cNvPr>
          <p:cNvSpPr/>
          <p:nvPr/>
        </p:nvSpPr>
        <p:spPr>
          <a:xfrm>
            <a:off x="0" y="2365326"/>
            <a:ext cx="12192000" cy="2127348"/>
          </a:xfrm>
          <a:prstGeom prst="rect">
            <a:avLst/>
          </a:prstGeom>
          <a:solidFill>
            <a:srgbClr val="FFC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1772" dirty="0"/>
          </a:p>
        </p:txBody>
      </p:sp>
      <p:pic>
        <p:nvPicPr>
          <p:cNvPr id="24" name="Gráfico 23">
            <a:extLst>
              <a:ext uri="{FF2B5EF4-FFF2-40B4-BE49-F238E27FC236}">
                <a16:creationId xmlns:a16="http://schemas.microsoft.com/office/drawing/2014/main" id="{535C534A-222C-4B62-9902-686DC7AD9EDB}"/>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07176" y="3909605"/>
            <a:ext cx="947225" cy="506437"/>
          </a:xfrm>
          <a:prstGeom prst="rect">
            <a:avLst/>
          </a:prstGeom>
        </p:spPr>
      </p:pic>
      <p:pic>
        <p:nvPicPr>
          <p:cNvPr id="11" name="Gráfico 10">
            <a:extLst>
              <a:ext uri="{FF2B5EF4-FFF2-40B4-BE49-F238E27FC236}">
                <a16:creationId xmlns:a16="http://schemas.microsoft.com/office/drawing/2014/main" id="{02B35F32-59E3-45CE-A4AF-264F26222DFE}"/>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1240186" y="4117426"/>
            <a:ext cx="956603" cy="103163"/>
          </a:xfrm>
          <a:prstGeom prst="rect">
            <a:avLst/>
          </a:prstGeom>
        </p:spPr>
      </p:pic>
      <p:pic>
        <p:nvPicPr>
          <p:cNvPr id="15" name="Gráfico 14">
            <a:extLst>
              <a:ext uri="{FF2B5EF4-FFF2-40B4-BE49-F238E27FC236}">
                <a16:creationId xmlns:a16="http://schemas.microsoft.com/office/drawing/2014/main" id="{CC03A4F0-58BE-42FB-9A71-3C62FDA35940}"/>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1240186" y="4312879"/>
            <a:ext cx="956603" cy="103163"/>
          </a:xfrm>
          <a:prstGeom prst="rect">
            <a:avLst/>
          </a:prstGeom>
        </p:spPr>
      </p:pic>
      <p:pic>
        <p:nvPicPr>
          <p:cNvPr id="16" name="Gráfico 15">
            <a:extLst>
              <a:ext uri="{FF2B5EF4-FFF2-40B4-BE49-F238E27FC236}">
                <a16:creationId xmlns:a16="http://schemas.microsoft.com/office/drawing/2014/main" id="{18461C8C-AA5E-4727-9351-EE2F45F18DB0}"/>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6148" y="2441959"/>
            <a:ext cx="956603" cy="103163"/>
          </a:xfrm>
          <a:prstGeom prst="rect">
            <a:avLst/>
          </a:prstGeom>
        </p:spPr>
      </p:pic>
      <p:pic>
        <p:nvPicPr>
          <p:cNvPr id="18" name="Gráfico 17">
            <a:extLst>
              <a:ext uri="{FF2B5EF4-FFF2-40B4-BE49-F238E27FC236}">
                <a16:creationId xmlns:a16="http://schemas.microsoft.com/office/drawing/2014/main" id="{307F9AD8-0BBF-43B8-A477-E23EF76D41C5}"/>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6148" y="2637412"/>
            <a:ext cx="956603" cy="103163"/>
          </a:xfrm>
          <a:prstGeom prst="rect">
            <a:avLst/>
          </a:prstGeom>
        </p:spPr>
      </p:pic>
      <p:sp>
        <p:nvSpPr>
          <p:cNvPr id="19" name="CuadroTexto 18">
            <a:extLst>
              <a:ext uri="{FF2B5EF4-FFF2-40B4-BE49-F238E27FC236}">
                <a16:creationId xmlns:a16="http://schemas.microsoft.com/office/drawing/2014/main" id="{5AFCC314-88A6-4F9E-9232-A5E74F5E5120}"/>
              </a:ext>
            </a:extLst>
          </p:cNvPr>
          <p:cNvSpPr txBox="1"/>
          <p:nvPr/>
        </p:nvSpPr>
        <p:spPr>
          <a:xfrm>
            <a:off x="1312903" y="3201719"/>
            <a:ext cx="9566195" cy="454562"/>
          </a:xfrm>
          <a:prstGeom prst="rect">
            <a:avLst/>
          </a:prstGeom>
          <a:noFill/>
        </p:spPr>
        <p:txBody>
          <a:bodyPr wrap="square" lIns="90033" tIns="45017" rIns="90033" bIns="45017" rtlCol="0" anchor="t">
            <a:spAutoFit/>
          </a:bodyPr>
          <a:lstStyle/>
          <a:p>
            <a:pPr algn="ctr"/>
            <a:r>
              <a:rPr lang="es-PE" sz="2363" dirty="0">
                <a:solidFill>
                  <a:schemeClr val="bg1"/>
                </a:solidFill>
                <a:latin typeface="Lato"/>
                <a:ea typeface="Lato"/>
                <a:cs typeface="Lato"/>
              </a:rPr>
              <a:t>Gracias por su atención, </a:t>
            </a:r>
            <a:r>
              <a:rPr lang="es-PE" sz="2363" b="1" dirty="0">
                <a:solidFill>
                  <a:schemeClr val="bg1"/>
                </a:solidFill>
                <a:latin typeface="Lato"/>
                <a:ea typeface="Lato"/>
                <a:cs typeface="Lato"/>
              </a:rPr>
              <a:t>¡Nos vemos en la próxima sesión!</a:t>
            </a:r>
          </a:p>
        </p:txBody>
      </p:sp>
      <p:pic>
        <p:nvPicPr>
          <p:cNvPr id="20" name="Gráfico 19">
            <a:extLst>
              <a:ext uri="{FF2B5EF4-FFF2-40B4-BE49-F238E27FC236}">
                <a16:creationId xmlns:a16="http://schemas.microsoft.com/office/drawing/2014/main" id="{78E5FCC9-3076-43D5-BA8C-AC71E880B558}"/>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1147858" y="2441958"/>
            <a:ext cx="947225" cy="506437"/>
          </a:xfrm>
          <a:prstGeom prst="rect">
            <a:avLst/>
          </a:prstGeom>
        </p:spPr>
      </p:pic>
      <p:sp>
        <p:nvSpPr>
          <p:cNvPr id="4" name="Rectángulo 3">
            <a:extLst>
              <a:ext uri="{FF2B5EF4-FFF2-40B4-BE49-F238E27FC236}">
                <a16:creationId xmlns:a16="http://schemas.microsoft.com/office/drawing/2014/main" id="{0B86D02F-0CD5-4AFC-B6D9-5EE9FD67FE78}"/>
              </a:ext>
            </a:extLst>
          </p:cNvPr>
          <p:cNvSpPr/>
          <p:nvPr/>
        </p:nvSpPr>
        <p:spPr>
          <a:xfrm>
            <a:off x="1247685" y="3201718"/>
            <a:ext cx="149159" cy="454562"/>
          </a:xfrm>
          <a:prstGeom prst="rect">
            <a:avLst/>
          </a:prstGeom>
          <a:solidFill>
            <a:srgbClr val="486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1772"/>
          </a:p>
        </p:txBody>
      </p:sp>
      <p:sp>
        <p:nvSpPr>
          <p:cNvPr id="21" name="Rectángulo 20">
            <a:extLst>
              <a:ext uri="{FF2B5EF4-FFF2-40B4-BE49-F238E27FC236}">
                <a16:creationId xmlns:a16="http://schemas.microsoft.com/office/drawing/2014/main" id="{0B56BA47-1031-484D-96A0-FAC826060668}"/>
              </a:ext>
            </a:extLst>
          </p:cNvPr>
          <p:cNvSpPr/>
          <p:nvPr/>
        </p:nvSpPr>
        <p:spPr>
          <a:xfrm>
            <a:off x="10799724" y="3201718"/>
            <a:ext cx="149159" cy="454562"/>
          </a:xfrm>
          <a:prstGeom prst="rect">
            <a:avLst/>
          </a:prstGeom>
          <a:solidFill>
            <a:srgbClr val="486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1772"/>
          </a:p>
        </p:txBody>
      </p:sp>
    </p:spTree>
    <p:extLst>
      <p:ext uri="{BB962C8B-B14F-4D97-AF65-F5344CB8AC3E}">
        <p14:creationId xmlns:p14="http://schemas.microsoft.com/office/powerpoint/2010/main" val="1233319880"/>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13425</TotalTime>
  <Words>1981</Words>
  <Application>Microsoft Office PowerPoint</Application>
  <PresentationFormat>Panorámica</PresentationFormat>
  <Paragraphs>225</Paragraphs>
  <Slides>36</Slides>
  <Notes>32</Notes>
  <HiddenSlides>6</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36</vt:i4>
      </vt:variant>
    </vt:vector>
  </HeadingPairs>
  <TitlesOfParts>
    <vt:vector size="42" baseType="lpstr">
      <vt:lpstr>Arial</vt:lpstr>
      <vt:lpstr>Calibri</vt:lpstr>
      <vt:lpstr>Calibri Light</vt:lpstr>
      <vt:lpstr>Lato</vt:lpstr>
      <vt:lpstr>PT Sans</vt:lpstr>
      <vt:lpstr>Tema de Office</vt:lpstr>
      <vt:lpstr>Presentación de PowerPoint</vt:lpstr>
      <vt:lpstr>Presentación de PowerPoint</vt:lpstr>
      <vt:lpstr>PATRONES DE DISEÑO</vt:lpstr>
      <vt:lpstr>Tipos de Patrones</vt:lpstr>
      <vt:lpstr>Patrones estructurales</vt:lpstr>
      <vt:lpstr>COMPOSITE (objeto compuesto, object tree)</vt:lpstr>
      <vt:lpstr>Solución COMPOSITE</vt:lpstr>
      <vt:lpstr>Participantes</vt:lpstr>
      <vt:lpstr>Ejemplo  de patrón COMPOSITE</vt:lpstr>
      <vt:lpstr>Ventajas</vt:lpstr>
      <vt:lpstr>FACADE (fachada)</vt:lpstr>
      <vt:lpstr>Participantes</vt:lpstr>
      <vt:lpstr>Ejemplo  de patrón FACADE</vt:lpstr>
      <vt:lpstr>Ejemplo  de patrón FACADE</vt:lpstr>
      <vt:lpstr>Ventajas</vt:lpstr>
      <vt:lpstr>ADAPTER (adaptador, envoltorio, wrapper)</vt:lpstr>
      <vt:lpstr>Solución ADAPTER</vt:lpstr>
      <vt:lpstr>Participantes</vt:lpstr>
      <vt:lpstr>Ejemplo de patrón ADAPTER</vt:lpstr>
      <vt:lpstr>Ejemplo  de patrón ADAPTER</vt:lpstr>
      <vt:lpstr>Ventajas</vt:lpstr>
      <vt:lpstr>DECORATOR (wrapper)</vt:lpstr>
      <vt:lpstr>Participantes</vt:lpstr>
      <vt:lpstr>Ejemplo  de patrón DECORATOR</vt:lpstr>
      <vt:lpstr>Ejemplo  de patrón DECORATOR</vt:lpstr>
      <vt:lpstr>Ventajas</vt:lpstr>
      <vt:lpstr>Tipos de Patrones</vt:lpstr>
      <vt:lpstr>Tipos de Patrones</vt:lpstr>
      <vt:lpstr>Patrones de comportamiento</vt:lpstr>
      <vt:lpstr>STRATEGY</vt:lpstr>
      <vt:lpstr>STATE</vt:lpstr>
      <vt:lpstr>INTERPRETER</vt:lpstr>
      <vt:lpstr>COMMAND</vt:lpstr>
      <vt:lpstr>OBSERVER</vt:lpstr>
      <vt:lpstr>¿PREGUNTAS?</vt:lpstr>
      <vt:lpstr>Presentación de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Milagros Nuñez</dc:creator>
  <cp:lastModifiedBy>Milagros Nuñez</cp:lastModifiedBy>
  <cp:revision>278</cp:revision>
  <dcterms:created xsi:type="dcterms:W3CDTF">2024-08-27T16:11:14Z</dcterms:created>
  <dcterms:modified xsi:type="dcterms:W3CDTF">2024-09-26T01:40:27Z</dcterms:modified>
</cp:coreProperties>
</file>